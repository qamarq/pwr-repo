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9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BB5BB-B6C2-F54D-8E27-581AF6CA892C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22B4F-654F-0848-A984-81E60CECA9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5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1bf01047c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1bf01047c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1bf01047c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1bf01047c_2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1bf01047c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1bf01047c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1bf01047c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1bf01047c_2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1bf01047c_2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1bf01047c_2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1bf01047c_2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1bf01047c_2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1bf01047c_2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1bf01047c_2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17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22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80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3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01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4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7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2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4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442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15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16007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E9C2588-6E32-D647-9042-D4840BBBBC2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3B3679A-68AA-8B4D-9278-035777880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4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pl"/>
              <a:t>1.9. Właściwość identyfikująca obiekty klasy (ograniczenie ID)</a:t>
            </a:r>
            <a:endParaRPr sz="4667"/>
          </a:p>
        </p:txBody>
      </p:sp>
      <p:sp>
        <p:nvSpPr>
          <p:cNvPr id="110" name="Google Shape;110;p2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pl" dirty="0"/>
              <a:t>Kamil Marczak 284229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Identyfikacja obiektów klasy w UML (ID)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pl" sz="3467"/>
              <a:t>Po co: jednoznaczne rozróżnienie instancji (np. “klucz główny” w bazie, identyfikator w XML/JSON).</a:t>
            </a:r>
            <a:endParaRPr sz="3467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“ID” w UML: właściwość isID i notacja {id}</a:t>
            </a:r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524920">
              <a:buSzPts val="2600"/>
            </a:pPr>
            <a:r>
              <a:rPr lang="pl" sz="3467"/>
              <a:t>UML przewiduje oznaczenie właściwości jako identyfikującej (np. {id} przy atrybucie).</a:t>
            </a:r>
            <a:endParaRPr sz="3467"/>
          </a:p>
          <a:p>
            <a:pPr indent="-524920">
              <a:buSzPts val="2600"/>
            </a:pPr>
            <a:r>
              <a:rPr lang="pl" sz="3467"/>
              <a:t>W praktyce narzędzia UML często prezentują to właśnie jako dopisek {id}.</a:t>
            </a:r>
            <a:endParaRPr sz="3467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Co ważne semantycznie</a:t>
            </a:r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524920">
              <a:buSzPts val="2600"/>
            </a:pPr>
            <a:r>
              <a:rPr lang="pl" sz="3467"/>
              <a:t>isID może wskazywać, że dana właściwość jest częścią identyfikatora klasy.</a:t>
            </a:r>
            <a:endParaRPr sz="3467"/>
          </a:p>
          <a:p>
            <a:pPr indent="-524920">
              <a:buSzPts val="2600"/>
            </a:pPr>
            <a:r>
              <a:rPr lang="pl" sz="3467"/>
              <a:t>Jeśli oznaczysz wiele właściwości jako ID, to kombinacja wartości może stanowić identyfikator (tzw. klucz złożony)</a:t>
            </a:r>
            <a:endParaRPr sz="3467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Diagram: pojedyncze ID (najczęstszy przypadek)</a:t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7834" y="1839367"/>
            <a:ext cx="8496300" cy="394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Ograniczenia ID a “unikalność” w modelu (OCL)</a:t>
            </a:r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21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474121">
              <a:buSzPts val="2000"/>
            </a:pPr>
            <a:r>
              <a:rPr lang="pl" sz="2667" dirty="0"/>
              <a:t>Samo {id} bywa interpretowane narzędziowo, ale gdy chcesz formalnie wymusić unikalność w określonym zakresie, warto dodać OCL invariant.</a:t>
            </a:r>
            <a:endParaRPr sz="2667" dirty="0"/>
          </a:p>
          <a:p>
            <a:pPr marL="0" indent="0">
              <a:spcBef>
                <a:spcPts val="1600"/>
              </a:spcBef>
              <a:buNone/>
            </a:pPr>
            <a:endParaRPr sz="667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pl" sz="2667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Przykład OCL – unikalny numer w ramach firmy:</a:t>
            </a:r>
            <a:endParaRPr sz="2667" dirty="0"/>
          </a:p>
          <a:p>
            <a:pPr indent="0">
              <a:spcBef>
                <a:spcPts val="1600"/>
              </a:spcBef>
              <a:buNone/>
            </a:pPr>
            <a:r>
              <a:rPr lang="pl" sz="2667" dirty="0">
                <a:latin typeface="Roboto Mono"/>
                <a:ea typeface="Roboto Mono"/>
                <a:cs typeface="Roboto Mono"/>
                <a:sym typeface="Roboto Mono"/>
              </a:rPr>
              <a:t>context Firma</a:t>
            </a:r>
            <a:endParaRPr sz="2667" dirty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>
              <a:buNone/>
            </a:pPr>
            <a:r>
              <a:rPr lang="pl" sz="2667" dirty="0">
                <a:latin typeface="Roboto Mono"/>
                <a:ea typeface="Roboto Mono"/>
                <a:cs typeface="Roboto Mono"/>
                <a:sym typeface="Roboto Mono"/>
              </a:rPr>
              <a:t>inv UniqueEmployeeNumber:</a:t>
            </a:r>
            <a:endParaRPr sz="2667" dirty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>
              <a:buNone/>
            </a:pPr>
            <a:r>
              <a:rPr lang="pl" sz="2667" dirty="0">
                <a:latin typeface="Roboto Mono"/>
                <a:ea typeface="Roboto Mono"/>
                <a:cs typeface="Roboto Mono"/>
                <a:sym typeface="Roboto Mono"/>
              </a:rPr>
              <a:t>  self.pracownicy-&gt;isUnique(nrEwidencyjny)</a:t>
            </a:r>
            <a:endParaRPr sz="2667" dirty="0">
              <a:latin typeface="Roboto Mono"/>
              <a:ea typeface="Roboto Mono"/>
              <a:cs typeface="Roboto Mono"/>
              <a:sym typeface="Roboto Mono"/>
            </a:endParaRPr>
          </a:p>
          <a:p>
            <a:pPr indent="0">
              <a:buNone/>
            </a:pPr>
            <a:endParaRPr sz="2667" dirty="0"/>
          </a:p>
          <a:p>
            <a:pPr indent="0">
              <a:spcBef>
                <a:spcPts val="1600"/>
              </a:spcBef>
              <a:buNone/>
            </a:pPr>
            <a:r>
              <a:rPr lang="pl" sz="2667" dirty="0"/>
              <a:t>(OCL jest standardowym językiem ograniczeń powiązanym z UML.)</a:t>
            </a:r>
            <a:endParaRPr sz="2667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>
              <a:spcBef>
                <a:spcPts val="1600"/>
              </a:spcBef>
              <a:buNone/>
            </a:pPr>
            <a:endParaRPr sz="2667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Dobre praktyki modelowania ID</a:t>
            </a:r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524920">
              <a:buSzPts val="2600"/>
            </a:pPr>
            <a:r>
              <a:rPr lang="pl" sz="3467"/>
              <a:t>Zdefiniuj zakres unikalności (globalnie? w ramach agregatu, np. Firma?).</a:t>
            </a:r>
            <a:endParaRPr sz="3467"/>
          </a:p>
          <a:p>
            <a:pPr indent="-524920">
              <a:buSzPts val="2600"/>
            </a:pPr>
            <a:r>
              <a:rPr lang="pl" sz="3467"/>
              <a:t>Ustal, czy ID może być puste (w specyfikacji cytowanej w źródłach dopuszcza się, że niektóre wartości mogą być puste – zależnie od interpretacji/narzędzia).</a:t>
            </a:r>
            <a:endParaRPr sz="3467"/>
          </a:p>
          <a:p>
            <a:pPr indent="-524920">
              <a:buSzPts val="2600"/>
            </a:pPr>
            <a:r>
              <a:rPr lang="pl" sz="3467"/>
              <a:t>Jeżeli ID wynika z domeny (np. PESEL), dopisz krótki komentarz/ograniczenie walidacyjne.</a:t>
            </a:r>
            <a:endParaRPr sz="3467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0</TotalTime>
  <Words>257</Words>
  <Application>Microsoft Macintosh PowerPoint</Application>
  <PresentationFormat>Widescreen</PresentationFormat>
  <Paragraphs>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Gill Sans MT</vt:lpstr>
      <vt:lpstr>Oswald</vt:lpstr>
      <vt:lpstr>Roboto Mono</vt:lpstr>
      <vt:lpstr>Parcel</vt:lpstr>
      <vt:lpstr>1.9. Właściwość identyfikująca obiekty klasy (ograniczenie ID)</vt:lpstr>
      <vt:lpstr>Identyfikacja obiektów klasy w UML (ID)</vt:lpstr>
      <vt:lpstr>“ID” w UML: właściwość isID i notacja {id}</vt:lpstr>
      <vt:lpstr>Co ważne semantycznie</vt:lpstr>
      <vt:lpstr>Diagram: pojedyncze ID (najczęstszy przypadek)</vt:lpstr>
      <vt:lpstr>Ograniczenia ID a “unikalność” w modelu (OCL)</vt:lpstr>
      <vt:lpstr>Dobre praktyki modelowania 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Marczak (284229)</dc:creator>
  <cp:lastModifiedBy>Kamil Marczak (284229)</cp:lastModifiedBy>
  <cp:revision>1</cp:revision>
  <dcterms:created xsi:type="dcterms:W3CDTF">2026-03-29T12:02:42Z</dcterms:created>
  <dcterms:modified xsi:type="dcterms:W3CDTF">2026-03-29T12:03:20Z</dcterms:modified>
</cp:coreProperties>
</file>