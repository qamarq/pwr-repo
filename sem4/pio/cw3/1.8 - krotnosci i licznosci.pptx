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DD293-30B1-4E49-A55A-1D566EE5437F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B975C-7269-4843-B438-DCE7F33B9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1bf01047c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1bf01047c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1bf01047c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1bf01047c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1bf01047c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1bf01047c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1bf01047c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1bf01047c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bf01047c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bf01047c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bf01047c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bf01047c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1bf01047c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1bf01047c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79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6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28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1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41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56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1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92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1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3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420301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03A4925-352D-8B43-BFA0-057943347D2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32B0611-27F5-7A47-B5FE-2A5A72388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2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2616277" y="2061837"/>
            <a:ext cx="6959447" cy="1662475"/>
          </a:xfrm>
          <a:prstGeom prst="rect">
            <a:avLst/>
          </a:prstGeo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 sz="4800"/>
              <a:t>1.8. Krotności i liczności w UML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388938" y="3783690"/>
            <a:ext cx="5414125" cy="1196717"/>
          </a:xfrm>
          <a:prstGeom prst="rect">
            <a:avLst/>
          </a:prstGeom>
        </p:spPr>
        <p:txBody>
          <a:bodyPr spcFirstLastPara="1" vert="horz" lIns="121900" tIns="121900" rIns="121900" bIns="121900" rtlCol="0" anchorCtr="0">
            <a:norm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Kamil Marczak 284229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Czego się nauczymy?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pl" sz="4000"/>
              <a:t>Cel: umieć poprawnie zapisać i interpretować ile obiektów może uczestniczyć w relacji lub być wartością właściwości (atrybutu).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Definicja: co opisuje krotność?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Krotność (multiplicity) to przedział dopuszczalnej liczby wystąpień (dolna i górna granica).</a:t>
            </a:r>
            <a:endParaRPr sz="3467"/>
          </a:p>
          <a:p>
            <a:pPr indent="-524920">
              <a:buSzPts val="2600"/>
            </a:pPr>
            <a:r>
              <a:rPr lang="pl" sz="3467"/>
              <a:t>Górna granica może być liczbą lub * (nieograniczona).</a:t>
            </a:r>
            <a:endParaRPr sz="346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Najczęstsze zapisy i znaczenie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0..1 — zero lub jeden (opcjonalnie)</a:t>
            </a:r>
            <a:endParaRPr sz="3467"/>
          </a:p>
          <a:p>
            <a:pPr indent="-524920">
              <a:buSzPts val="2600"/>
            </a:pPr>
            <a:r>
              <a:rPr lang="pl" sz="3467"/>
              <a:t>1 (równoważne 1..1) — dokładnie jeden</a:t>
            </a:r>
            <a:endParaRPr sz="3467"/>
          </a:p>
          <a:p>
            <a:pPr indent="-524920">
              <a:buSzPts val="2600"/>
            </a:pPr>
            <a:r>
              <a:rPr lang="pl" sz="3467"/>
              <a:t>0..* lub * — zero lub więcej</a:t>
            </a:r>
            <a:endParaRPr sz="3467"/>
          </a:p>
          <a:p>
            <a:pPr indent="-524920">
              <a:buSzPts val="2600"/>
            </a:pPr>
            <a:r>
              <a:rPr lang="pl" sz="3467"/>
              <a:t>1..* — co najmniej jeden</a:t>
            </a:r>
            <a:endParaRPr sz="3467"/>
          </a:p>
          <a:p>
            <a:pPr indent="-524920">
              <a:buSzPts val="2600"/>
            </a:pPr>
            <a:r>
              <a:rPr lang="pl" sz="3467"/>
              <a:t>m..n — od m do n (włącznie)</a:t>
            </a:r>
            <a:endParaRPr sz="346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Krotność na końcach asocjacji (relacje klas)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0">
              <a:spcAft>
                <a:spcPts val="1600"/>
              </a:spcAft>
              <a:buNone/>
            </a:pPr>
            <a:r>
              <a:rPr lang="pl" sz="2667"/>
              <a:t>Krotność umieszczamy przy końcu asocjacji i czytamy “ile obiektów po tej stronie może być powiązanych z jednym obiektem po drugiej stronie”.</a:t>
            </a:r>
            <a:endParaRPr sz="2667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373" y="2748134"/>
            <a:ext cx="2737267" cy="39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Krotność atrybutów (właściwości klasy)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Krotność może dotyczyć także atrybutu (czy jest pojedynczą wartością czy kolekcją).</a:t>
            </a:r>
            <a:endParaRPr sz="3467"/>
          </a:p>
          <a:p>
            <a:pPr indent="-524920">
              <a:buSzPts val="2600"/>
            </a:pPr>
            <a:r>
              <a:rPr lang="pl" sz="3467"/>
              <a:t>W notacji właściwości spotyka się zapis m.in.:</a:t>
            </a:r>
            <a:endParaRPr sz="3467"/>
          </a:p>
          <a:p>
            <a:pPr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pl" sz="3467"/>
              <a:t>nazwa : Typ [multiplicity]</a:t>
            </a:r>
            <a:endParaRPr sz="34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Krotność atrybutów (właściwości klasy)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74121">
              <a:buSzPts val="2000"/>
            </a:pPr>
            <a:r>
              <a:rPr lang="pl" sz="2667"/>
              <a:t>Krotność może dotyczyć także atrybutu (czy jest pojedynczą wartością czy kolekcją).</a:t>
            </a:r>
            <a:endParaRPr sz="2667"/>
          </a:p>
          <a:p>
            <a:pPr indent="-474121">
              <a:buSzPts val="2000"/>
            </a:pPr>
            <a:r>
              <a:rPr lang="pl" sz="2667"/>
              <a:t>W notacji właściwości spotyka się zapis m.in.: nazwa : Typ [multiplicity]</a:t>
            </a:r>
            <a:endParaRPr sz="2667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801" y="3429000"/>
            <a:ext cx="7516401" cy="305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800" cy="1242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buSzPts val="990"/>
            </a:pPr>
            <a:r>
              <a:rPr lang="pl" sz="3600" dirty="0"/>
              <a:t>Krotność + cechy kolekcji (unique/ordered) </a:t>
            </a:r>
            <a:endParaRPr sz="3600" dirty="0"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960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endParaRPr lang="pl" dirty="0"/>
          </a:p>
          <a:p>
            <a:pPr marL="0" indent="0">
              <a:buNone/>
            </a:pPr>
            <a:r>
              <a:rPr lang="pl" dirty="0"/>
              <a:t>Dla właściwości wielowartościowych UML rozróżnia m.in. unikalność i uporządkowanie (np. unique, ordered).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endParaRPr sz="667" dirty="0"/>
          </a:p>
          <a:p>
            <a:pPr marL="0" indent="0">
              <a:spcBef>
                <a:spcPts val="1600"/>
              </a:spcBef>
              <a:buNone/>
            </a:pPr>
            <a:r>
              <a:rPr lang="pl" sz="36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Typowe błędy i dobre praktyki </a:t>
            </a:r>
            <a:endParaRPr sz="3600" dirty="0"/>
          </a:p>
          <a:p>
            <a:pPr>
              <a:spcBef>
                <a:spcPts val="1600"/>
              </a:spcBef>
            </a:pPr>
            <a:r>
              <a:rPr lang="pl" dirty="0"/>
              <a:t>Mylenie 0..* z 1..* (różnica: czy dopuszczasz “brak elementów”).</a:t>
            </a:r>
            <a:endParaRPr dirty="0"/>
          </a:p>
          <a:p>
            <a:r>
              <a:rPr lang="pl" dirty="0"/>
              <a:t>Brak krotności = niejasne wymagania (w implementacji zwykle trzeba doprecyzować).</a:t>
            </a:r>
            <a:endParaRPr dirty="0"/>
          </a:p>
          <a:p>
            <a:r>
              <a:rPr lang="pl" dirty="0"/>
              <a:t>Dobrze jest dopisywać krótkie przykłady biznesowe (“Klient może nie mieć zamówień”).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</TotalTime>
  <Words>288</Words>
  <Application>Microsoft Macintosh PowerPoint</Application>
  <PresentationFormat>Widescreen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Gill Sans MT</vt:lpstr>
      <vt:lpstr>Oswald</vt:lpstr>
      <vt:lpstr>Parcel</vt:lpstr>
      <vt:lpstr>1.8. Krotności i liczności w UML</vt:lpstr>
      <vt:lpstr>Czego się nauczymy?</vt:lpstr>
      <vt:lpstr>Definicja: co opisuje krotność?</vt:lpstr>
      <vt:lpstr>Najczęstsze zapisy i znaczenie</vt:lpstr>
      <vt:lpstr>Krotność na końcach asocjacji (relacje klas)</vt:lpstr>
      <vt:lpstr>Krotność atrybutów (właściwości klasy)</vt:lpstr>
      <vt:lpstr>Krotność atrybutów (właściwości klasy)</vt:lpstr>
      <vt:lpstr>Krotność + cechy kolekcji (unique/ordered)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Marczak (284229)</dc:creator>
  <cp:lastModifiedBy>Kamil Marczak (284229)</cp:lastModifiedBy>
  <cp:revision>1</cp:revision>
  <dcterms:created xsi:type="dcterms:W3CDTF">2026-03-29T12:00:35Z</dcterms:created>
  <dcterms:modified xsi:type="dcterms:W3CDTF">2026-03-29T12:02:39Z</dcterms:modified>
</cp:coreProperties>
</file>