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ckwell" panose="02060603020205020403" pitchFamily="18" charset="77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4"/>
  </p:normalViewPr>
  <p:slideViewPr>
    <p:cSldViewPr snapToGrid="0">
      <p:cViewPr varScale="1">
        <p:scale>
          <a:sx n="153" d="100"/>
          <a:sy n="153" d="100"/>
        </p:scale>
        <p:origin x="6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dfd844c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dfd844c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133bc9b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133bc9b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dfd844c6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dfd844c6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133bc9b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e133bc9b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dfd844c6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dfd844c6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8785231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488142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853740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5510891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6760191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7362964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36651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1523388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1713283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8374371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8957466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22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5021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Asocjacja: zaawansowane aspekty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15E1AC81-83F2-45A8-9054-15570F4E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B15AA7C5-9BFE-4B90-A119-467AFACE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944AB87D-35AF-4719-9940-5822E7702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E8B33BE3-7890-4628-9322-7EFBA337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01AD3ECF-519E-45E2-99DA-F5C1B5071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C050E700-0FF1-4D25-B54C-84BA04FC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720D9C11-F5C9-41B0-B2F2-EE20BC3D0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623A9DA0-857E-4CDE-80EA-F30F1CE5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C48B8F4C-2C83-46F6-AFCD-58166AEB1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234C3795-C44D-41A7-A8F6-891387A66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91CC36F4-5DFA-4954-B354-97B180E98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7087A08E-C024-457D-8F99-1F340CED6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61CFBC61-7F57-45D7-860E-BF51B0EDA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2591C3DB-4880-431E-BC3D-37F1378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79557EFE-4199-4E24-8A13-1B9CC1715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0B965615-6052-4907-A136-9CAD14604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F788FFC4-205D-47C1-91E7-DD1A52E0A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1">
              <a:extLst>
                <a:ext uri="{FF2B5EF4-FFF2-40B4-BE49-F238E27FC236}">
                  <a16:creationId xmlns:a16="http://schemas.microsoft.com/office/drawing/2014/main" id="{462FADD6-C927-46ED-A6E6-273B35C2F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AF64005E-134D-4444-9425-FB1C18898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3">
              <a:extLst>
                <a:ext uri="{FF2B5EF4-FFF2-40B4-BE49-F238E27FC236}">
                  <a16:creationId xmlns:a16="http://schemas.microsoft.com/office/drawing/2014/main" id="{E2565CA7-A8CB-463D-8D25-4F41235B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4">
              <a:extLst>
                <a:ext uri="{FF2B5EF4-FFF2-40B4-BE49-F238E27FC236}">
                  <a16:creationId xmlns:a16="http://schemas.microsoft.com/office/drawing/2014/main" id="{41ABBFC0-4EEA-4634-A73B-945729D6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5">
              <a:extLst>
                <a:ext uri="{FF2B5EF4-FFF2-40B4-BE49-F238E27FC236}">
                  <a16:creationId xmlns:a16="http://schemas.microsoft.com/office/drawing/2014/main" id="{E422F11F-726A-4A93-9D1B-B1400B061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BF129BC-EA9E-4D20-898B-399F7727D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FF42BAE-3249-46C8-9108-A83C87206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9" name="Isosceles Triangle 22">
              <a:extLst>
                <a:ext uri="{FF2B5EF4-FFF2-40B4-BE49-F238E27FC236}">
                  <a16:creationId xmlns:a16="http://schemas.microsoft.com/office/drawing/2014/main" id="{4DDE2BA8-4174-4A99-BB09-0BA28F26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A893933-F7DD-4DA6-85C7-4CFF58741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341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484094" y="720090"/>
            <a:ext cx="2899271" cy="3128458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algn="r" defTabSz="914400">
              <a:spcBef>
                <a:spcPct val="0"/>
              </a:spcBef>
              <a:spcAft>
                <a:spcPts val="0"/>
              </a:spcAft>
            </a:pPr>
            <a:r>
              <a:rPr lang="en-US" sz="3300" spc="-150" dirty="0" err="1"/>
              <a:t>Asocjacja</a:t>
            </a:r>
            <a:r>
              <a:rPr lang="en-US" sz="3300" spc="-150" dirty="0"/>
              <a:t> </a:t>
            </a:r>
            <a:br>
              <a:rPr lang="en-US" sz="3300" spc="-150" dirty="0"/>
            </a:br>
            <a:r>
              <a:rPr lang="en-US" sz="3300" spc="-150" dirty="0"/>
              <a:t>n-</a:t>
            </a:r>
            <a:r>
              <a:rPr lang="en-US" sz="3300" spc="-150" dirty="0" err="1"/>
              <a:t>krotna</a:t>
            </a:r>
            <a:endParaRPr lang="en-US" sz="3300" spc="-150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64197" y="900112"/>
            <a:ext cx="0" cy="265797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737373" y="720090"/>
            <a:ext cx="4133850" cy="31284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Asocjacja</a:t>
            </a:r>
            <a:r>
              <a:rPr lang="en-US" dirty="0">
                <a:latin typeface="+mj-lt"/>
              </a:rPr>
              <a:t> n-</a:t>
            </a:r>
            <a:r>
              <a:rPr lang="en-US" dirty="0" err="1">
                <a:latin typeface="+mj-lt"/>
              </a:rPr>
              <a:t>krotna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służy</a:t>
            </a:r>
            <a:r>
              <a:rPr lang="en-US" dirty="0">
                <a:latin typeface="+mj-lt"/>
              </a:rPr>
              <a:t> do </a:t>
            </a:r>
            <a:r>
              <a:rPr lang="en-US" dirty="0" err="1">
                <a:latin typeface="+mj-lt"/>
              </a:rPr>
              <a:t>przedstawienia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relacji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pomiędzy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więcej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niż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dwoma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elementami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kiedy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można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jej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rozłożyć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osobne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asocjacje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binarne</a:t>
            </a:r>
            <a:r>
              <a:rPr lang="en-US" dirty="0">
                <a:latin typeface="+mj-lt"/>
              </a:rPr>
              <a:t>, bez </a:t>
            </a:r>
            <a:r>
              <a:rPr lang="en-US" dirty="0" err="1">
                <a:latin typeface="+mj-lt"/>
              </a:rPr>
              <a:t>utraty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znaczenia</a:t>
            </a:r>
            <a:r>
              <a:rPr lang="en-US" dirty="0">
                <a:latin typeface="+mj-lt"/>
              </a:rPr>
              <a:t>.</a:t>
            </a:r>
          </a:p>
          <a:p>
            <a:pPr marL="0" lvl="0" indent="-228600" defTabSz="914400"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Instancja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takiej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asocjacji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istnieje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dopiero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gdy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wszystkie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połączenia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spełnione</a:t>
            </a:r>
            <a:endParaRPr lang="en-US" dirty="0">
              <a:latin typeface="+mj-lt"/>
            </a:endParaRPr>
          </a:p>
          <a:p>
            <a:pPr marL="0" lvl="0" indent="-228600" defTabSz="914400">
              <a:spcBef>
                <a:spcPts val="1200"/>
              </a:spcBef>
              <a:spcAft>
                <a:spcPts val="1200"/>
              </a:spcAft>
              <a:buSzPct val="110000"/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AE19E2D2-078B-459F-A431-2037B063F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14035B44-9204-427C-98D0-75678B980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755FDC7E-5938-4B4B-8877-06EE01FCD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F0437E65-E6AA-41CB-8690-97980FE0D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3F0EF991-E8E2-4486-80F2-A9E03DA1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FB081D04-EE00-42EF-BBFB-684673613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12B7F571-868C-421B-8A57-6196C8124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7E4953C7-80FE-46D4-A354-20321F42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C60293D3-71F6-45CD-890F-E68F81CDD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940865AC-2494-4A34-80AC-0D78FE9C5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E8206DC4-8F5A-4192-BB5B-39A4A2CDD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1851F69F-8755-4226-9A81-C27799E32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D85B97EF-28BC-441A-9EBB-81EF34094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7C68D975-1EC2-4BFA-811D-0454109E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251959DD-2AB4-4342-8A28-A25293926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785D37AB-3782-4D04-A998-0C126E1BD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9313ACA4-E3EA-43A3-822B-DD5DF119D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1">
              <a:extLst>
                <a:ext uri="{FF2B5EF4-FFF2-40B4-BE49-F238E27FC236}">
                  <a16:creationId xmlns:a16="http://schemas.microsoft.com/office/drawing/2014/main" id="{5A98D1AB-DF34-414B-9696-4B671EC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8153A7D0-F980-48CC-B318-806C679F4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96E44097-7726-43F7-9E27-8BD5BCF89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65B28630-DA3C-4E4C-94ED-0ED8F353C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1686151F-4919-4A15-9EC3-0329453ED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0C7CFA-FC7F-479C-9026-39109C0B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971A5E3-BBAD-4023-B07C-7FBC4202D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Isosceles Triangle 22">
              <a:extLst>
                <a:ext uri="{FF2B5EF4-FFF2-40B4-BE49-F238E27FC236}">
                  <a16:creationId xmlns:a16="http://schemas.microsoft.com/office/drawing/2014/main" id="{FC05BA5F-5BBE-4BFA-A313-155476233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275B948-0170-4286-84CE-04CA461F2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2957367F-0D64-42F0-A033-660B417F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74C980A-5321-4E88-B6F7-572A3327E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12" name="Freeform 5">
              <a:extLst>
                <a:ext uri="{FF2B5EF4-FFF2-40B4-BE49-F238E27FC236}">
                  <a16:creationId xmlns:a16="http://schemas.microsoft.com/office/drawing/2014/main" id="{C29411DD-732B-4883-8431-BF67EA06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6">
              <a:extLst>
                <a:ext uri="{FF2B5EF4-FFF2-40B4-BE49-F238E27FC236}">
                  <a16:creationId xmlns:a16="http://schemas.microsoft.com/office/drawing/2014/main" id="{0802BDA8-DBFD-4424-9577-4CECD3966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7">
              <a:extLst>
                <a:ext uri="{FF2B5EF4-FFF2-40B4-BE49-F238E27FC236}">
                  <a16:creationId xmlns:a16="http://schemas.microsoft.com/office/drawing/2014/main" id="{3A4651DB-CA25-45C9-BB5B-490E75E10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8">
              <a:extLst>
                <a:ext uri="{FF2B5EF4-FFF2-40B4-BE49-F238E27FC236}">
                  <a16:creationId xmlns:a16="http://schemas.microsoft.com/office/drawing/2014/main" id="{2561519A-19C4-4FAE-B4D2-9967A0285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">
              <a:extLst>
                <a:ext uri="{FF2B5EF4-FFF2-40B4-BE49-F238E27FC236}">
                  <a16:creationId xmlns:a16="http://schemas.microsoft.com/office/drawing/2014/main" id="{D7536EEC-CD2D-4F8D-8FCE-1B57B67C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0">
              <a:extLst>
                <a:ext uri="{FF2B5EF4-FFF2-40B4-BE49-F238E27FC236}">
                  <a16:creationId xmlns:a16="http://schemas.microsoft.com/office/drawing/2014/main" id="{F06D071C-EBE9-493C-B2FF-C290E80E6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">
              <a:extLst>
                <a:ext uri="{FF2B5EF4-FFF2-40B4-BE49-F238E27FC236}">
                  <a16:creationId xmlns:a16="http://schemas.microsoft.com/office/drawing/2014/main" id="{AE43943F-3505-4459-B105-5ADD87A9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2">
              <a:extLst>
                <a:ext uri="{FF2B5EF4-FFF2-40B4-BE49-F238E27FC236}">
                  <a16:creationId xmlns:a16="http://schemas.microsoft.com/office/drawing/2014/main" id="{DCFA8E01-9AAA-4377-B145-D4C3BC938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3">
              <a:extLst>
                <a:ext uri="{FF2B5EF4-FFF2-40B4-BE49-F238E27FC236}">
                  <a16:creationId xmlns:a16="http://schemas.microsoft.com/office/drawing/2014/main" id="{D0F9B300-29E8-4013-9610-4C98C20F5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4">
              <a:extLst>
                <a:ext uri="{FF2B5EF4-FFF2-40B4-BE49-F238E27FC236}">
                  <a16:creationId xmlns:a16="http://schemas.microsoft.com/office/drawing/2014/main" id="{D80DC548-7776-4F62-9150-EE50775DC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5">
              <a:extLst>
                <a:ext uri="{FF2B5EF4-FFF2-40B4-BE49-F238E27FC236}">
                  <a16:creationId xmlns:a16="http://schemas.microsoft.com/office/drawing/2014/main" id="{FB47EB33-C045-4382-BB34-C409FBFAB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9799171D-9C80-4F36-854F-272AB4CB7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7">
              <a:extLst>
                <a:ext uri="{FF2B5EF4-FFF2-40B4-BE49-F238E27FC236}">
                  <a16:creationId xmlns:a16="http://schemas.microsoft.com/office/drawing/2014/main" id="{36853A3D-C5F1-4325-ABDD-D82962719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8">
              <a:extLst>
                <a:ext uri="{FF2B5EF4-FFF2-40B4-BE49-F238E27FC236}">
                  <a16:creationId xmlns:a16="http://schemas.microsoft.com/office/drawing/2014/main" id="{F36C52C5-A8E2-4FDD-8C82-0B0A36ED2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9">
              <a:extLst>
                <a:ext uri="{FF2B5EF4-FFF2-40B4-BE49-F238E27FC236}">
                  <a16:creationId xmlns:a16="http://schemas.microsoft.com/office/drawing/2014/main" id="{EAB04D6F-5C3B-4BC8-A8D0-F0F70C33F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20">
              <a:extLst>
                <a:ext uri="{FF2B5EF4-FFF2-40B4-BE49-F238E27FC236}">
                  <a16:creationId xmlns:a16="http://schemas.microsoft.com/office/drawing/2014/main" id="{337A064D-A403-4F71-A373-F748D44C1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21">
              <a:extLst>
                <a:ext uri="{FF2B5EF4-FFF2-40B4-BE49-F238E27FC236}">
                  <a16:creationId xmlns:a16="http://schemas.microsoft.com/office/drawing/2014/main" id="{408954A6-C2C2-455F-8AB9-EF03ED0E7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22">
              <a:extLst>
                <a:ext uri="{FF2B5EF4-FFF2-40B4-BE49-F238E27FC236}">
                  <a16:creationId xmlns:a16="http://schemas.microsoft.com/office/drawing/2014/main" id="{98954187-FB8C-4673-8481-D251884C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23">
              <a:extLst>
                <a:ext uri="{FF2B5EF4-FFF2-40B4-BE49-F238E27FC236}">
                  <a16:creationId xmlns:a16="http://schemas.microsoft.com/office/drawing/2014/main" id="{5DE674D7-0925-4935-B299-98744B419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24">
              <a:extLst>
                <a:ext uri="{FF2B5EF4-FFF2-40B4-BE49-F238E27FC236}">
                  <a16:creationId xmlns:a16="http://schemas.microsoft.com/office/drawing/2014/main" id="{0D7AF2ED-2D49-4A69-BAB2-CF989B3B8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25">
              <a:extLst>
                <a:ext uri="{FF2B5EF4-FFF2-40B4-BE49-F238E27FC236}">
                  <a16:creationId xmlns:a16="http://schemas.microsoft.com/office/drawing/2014/main" id="{67F02011-466C-4790-B052-0CB804250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A1FAD6E-B62A-435F-B914-503F8B950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3DCBF1B1-B0BB-40C4-9870-227A638C1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22">
              <a:extLst>
                <a:ext uri="{FF2B5EF4-FFF2-40B4-BE49-F238E27FC236}">
                  <a16:creationId xmlns:a16="http://schemas.microsoft.com/office/drawing/2014/main" id="{C7D2A079-0082-43E4-9253-BA8D43378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EDFDFEF-7A52-497B-AE56-46D446902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400" spc="-150">
                <a:solidFill>
                  <a:srgbClr val="FFFEFF"/>
                </a:solidFill>
              </a:rPr>
              <a:t>Asocjacja n-krotna w UML</a:t>
            </a: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W </a:t>
            </a:r>
            <a:r>
              <a:rPr lang="en-US" b="1" dirty="0" err="1">
                <a:latin typeface="+mj-lt"/>
              </a:rPr>
              <a:t>notacji</a:t>
            </a:r>
            <a:r>
              <a:rPr lang="en-US" b="1" dirty="0">
                <a:latin typeface="+mj-lt"/>
              </a:rPr>
              <a:t> UML </a:t>
            </a:r>
            <a:r>
              <a:rPr lang="en-US" b="1" dirty="0" err="1">
                <a:latin typeface="+mj-lt"/>
              </a:rPr>
              <a:t>każdą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Asocjację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można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przedstawić</a:t>
            </a:r>
            <a:r>
              <a:rPr lang="en-US" b="1" dirty="0">
                <a:latin typeface="+mj-lt"/>
              </a:rPr>
              <a:t> za </a:t>
            </a:r>
            <a:r>
              <a:rPr lang="en-US" b="1" dirty="0" err="1">
                <a:latin typeface="+mj-lt"/>
              </a:rPr>
              <a:t>pomocą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rombu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opatrzonego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nazwą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Asocjacji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oraz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linii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prowadzących</a:t>
            </a:r>
            <a:r>
              <a:rPr lang="en-US" b="1" dirty="0">
                <a:latin typeface="+mj-lt"/>
              </a:rPr>
              <a:t> do </a:t>
            </a:r>
            <a:r>
              <a:rPr lang="en-US" b="1" dirty="0" err="1">
                <a:latin typeface="+mj-lt"/>
              </a:rPr>
              <a:t>końców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Asocjacji</a:t>
            </a:r>
            <a:r>
              <a:rPr lang="en-US" b="1" dirty="0">
                <a:latin typeface="+mj-lt"/>
              </a:rPr>
              <a:t>, </a:t>
            </a:r>
            <a:r>
              <a:rPr lang="en-US" b="1" dirty="0" err="1">
                <a:latin typeface="+mj-lt"/>
              </a:rPr>
              <a:t>łączących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romb</a:t>
            </a:r>
            <a:r>
              <a:rPr lang="en-US" b="1" dirty="0">
                <a:latin typeface="+mj-lt"/>
              </a:rPr>
              <a:t> z </a:t>
            </a:r>
            <a:r>
              <a:rPr lang="en-US" b="1" dirty="0" err="1">
                <a:latin typeface="+mj-lt"/>
              </a:rPr>
              <a:t>Klasyfikatorami</a:t>
            </a:r>
            <a:r>
              <a:rPr lang="en-US" b="1" dirty="0">
                <a:latin typeface="+mj-lt"/>
              </a:rPr>
              <a:t>.</a:t>
            </a:r>
          </a:p>
          <a:p>
            <a:pPr marL="0" lvl="0" indent="-228600" defTabSz="914400">
              <a:spcBef>
                <a:spcPts val="1200"/>
              </a:spcBef>
              <a:spcAft>
                <a:spcPts val="1200"/>
              </a:spcAft>
              <a:buSzPct val="11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/>
          <a:srcRect l="1366" r="3285" b="-2"/>
          <a:stretch>
            <a:fillRect/>
          </a:stretch>
        </p:blipFill>
        <p:spPr>
          <a:xfrm>
            <a:off x="3836931" y="2325119"/>
            <a:ext cx="4705920" cy="2218088"/>
          </a:xfrm>
          <a:prstGeom prst="rect">
            <a:avLst/>
          </a:prstGeom>
          <a:noFill/>
          <a:ln w="9525">
            <a:solidFill>
              <a:schemeClr val="tx1">
                <a:alpha val="20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Asocjacja rekurencyjna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800" dirty="0">
                <a:latin typeface="+mj-lt"/>
              </a:rPr>
              <a:t>Jest to szczególny rodzaj Asocjacji, w której Klasyfikator jest powiązany sam ze sobą. Oznacza to, że instancje tej samej klasy mogą być powiązane w określony sposób. W UML Asocjacja rekurencyjna jest reprezentowana jako połączenie między dwiema rolami tej samej klasy.</a:t>
            </a:r>
            <a:endParaRPr sz="1800" dirty="0">
              <a:latin typeface="+mj-lt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013" y="2382713"/>
            <a:ext cx="3210325" cy="21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15E1AC81-83F2-45A8-9054-15570F4E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B15AA7C5-9BFE-4B90-A119-467AFACE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944AB87D-35AF-4719-9940-5822E7702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7">
              <a:extLst>
                <a:ext uri="{FF2B5EF4-FFF2-40B4-BE49-F238E27FC236}">
                  <a16:creationId xmlns:a16="http://schemas.microsoft.com/office/drawing/2014/main" id="{E8B33BE3-7890-4628-9322-7EFBA337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8">
              <a:extLst>
                <a:ext uri="{FF2B5EF4-FFF2-40B4-BE49-F238E27FC236}">
                  <a16:creationId xmlns:a16="http://schemas.microsoft.com/office/drawing/2014/main" id="{01AD3ECF-519E-45E2-99DA-F5C1B5071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C050E700-0FF1-4D25-B54C-84BA04FC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720D9C11-F5C9-41B0-B2F2-EE20BC3D0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623A9DA0-857E-4CDE-80EA-F30F1CE5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C48B8F4C-2C83-46F6-AFCD-58166AEB1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234C3795-C44D-41A7-A8F6-891387A66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4">
              <a:extLst>
                <a:ext uri="{FF2B5EF4-FFF2-40B4-BE49-F238E27FC236}">
                  <a16:creationId xmlns:a16="http://schemas.microsoft.com/office/drawing/2014/main" id="{91CC36F4-5DFA-4954-B354-97B180E98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5">
              <a:extLst>
                <a:ext uri="{FF2B5EF4-FFF2-40B4-BE49-F238E27FC236}">
                  <a16:creationId xmlns:a16="http://schemas.microsoft.com/office/drawing/2014/main" id="{7087A08E-C024-457D-8F99-1F340CED6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61CFBC61-7F57-45D7-860E-BF51B0EDA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7">
              <a:extLst>
                <a:ext uri="{FF2B5EF4-FFF2-40B4-BE49-F238E27FC236}">
                  <a16:creationId xmlns:a16="http://schemas.microsoft.com/office/drawing/2014/main" id="{2591C3DB-4880-431E-BC3D-37F1378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8">
              <a:extLst>
                <a:ext uri="{FF2B5EF4-FFF2-40B4-BE49-F238E27FC236}">
                  <a16:creationId xmlns:a16="http://schemas.microsoft.com/office/drawing/2014/main" id="{79557EFE-4199-4E24-8A13-1B9CC1715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9">
              <a:extLst>
                <a:ext uri="{FF2B5EF4-FFF2-40B4-BE49-F238E27FC236}">
                  <a16:creationId xmlns:a16="http://schemas.microsoft.com/office/drawing/2014/main" id="{0B965615-6052-4907-A136-9CAD14604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0">
              <a:extLst>
                <a:ext uri="{FF2B5EF4-FFF2-40B4-BE49-F238E27FC236}">
                  <a16:creationId xmlns:a16="http://schemas.microsoft.com/office/drawing/2014/main" id="{F788FFC4-205D-47C1-91E7-DD1A52E0A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21">
              <a:extLst>
                <a:ext uri="{FF2B5EF4-FFF2-40B4-BE49-F238E27FC236}">
                  <a16:creationId xmlns:a16="http://schemas.microsoft.com/office/drawing/2014/main" id="{462FADD6-C927-46ED-A6E6-273B35C2F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22">
              <a:extLst>
                <a:ext uri="{FF2B5EF4-FFF2-40B4-BE49-F238E27FC236}">
                  <a16:creationId xmlns:a16="http://schemas.microsoft.com/office/drawing/2014/main" id="{AF64005E-134D-4444-9425-FB1C18898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E2565CA7-A8CB-463D-8D25-4F41235B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24">
              <a:extLst>
                <a:ext uri="{FF2B5EF4-FFF2-40B4-BE49-F238E27FC236}">
                  <a16:creationId xmlns:a16="http://schemas.microsoft.com/office/drawing/2014/main" id="{41ABBFC0-4EEA-4634-A73B-945729D6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25">
              <a:extLst>
                <a:ext uri="{FF2B5EF4-FFF2-40B4-BE49-F238E27FC236}">
                  <a16:creationId xmlns:a16="http://schemas.microsoft.com/office/drawing/2014/main" id="{E422F11F-726A-4A93-9D1B-B1400B061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BF129BC-EA9E-4D20-898B-399F7727D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FF42BAE-3249-46C8-9108-A83C87206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19" name="Isosceles Triangle 22">
              <a:extLst>
                <a:ext uri="{FF2B5EF4-FFF2-40B4-BE49-F238E27FC236}">
                  <a16:creationId xmlns:a16="http://schemas.microsoft.com/office/drawing/2014/main" id="{4DDE2BA8-4174-4A99-BB09-0BA28F26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A893933-F7DD-4DA6-85C7-4CFF58741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519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2748" y="0"/>
            <a:ext cx="7701252" cy="51519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160363" y="631031"/>
            <a:ext cx="4673143" cy="922927"/>
          </a:xfrm>
          <a:prstGeom prst="rect">
            <a:avLst/>
          </a:prstGeom>
        </p:spPr>
        <p:txBody>
          <a:bodyPr spcFirstLastPara="1" vert="horz" lIns="228600" tIns="228600" rIns="228600" bIns="228600" rtlCol="0" anchor="t" anchorCtr="0">
            <a:normAutofit/>
          </a:bodyPr>
          <a:lstStyle/>
          <a:p>
            <a:pPr marL="0" lvl="0" indent="0" algn="l" defTabSz="914400">
              <a:spcBef>
                <a:spcPct val="0"/>
              </a:spcBef>
              <a:spcAft>
                <a:spcPts val="0"/>
              </a:spcAft>
            </a:pPr>
            <a:r>
              <a:rPr lang="en-US" sz="2700" spc="-150">
                <a:solidFill>
                  <a:schemeClr val="accent1"/>
                </a:solidFill>
              </a:rPr>
              <a:t>Asocjacja rekurencyjna</a:t>
            </a:r>
          </a:p>
        </p:txBody>
      </p:sp>
      <p:sp>
        <p:nvSpPr>
          <p:cNvPr id="149" name="Isosceles Triangle 148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8427" y="716110"/>
            <a:ext cx="225581" cy="1944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2160365" y="1686784"/>
            <a:ext cx="4592837" cy="285207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2400" b="1" dirty="0" err="1">
                <a:latin typeface="+mj-lt"/>
              </a:rPr>
              <a:t>Znaleźć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ją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można</a:t>
            </a:r>
            <a:r>
              <a:rPr lang="en-US" sz="2400" b="1" dirty="0">
                <a:latin typeface="+mj-lt"/>
              </a:rPr>
              <a:t> w:</a:t>
            </a:r>
          </a:p>
          <a:p>
            <a:pPr marL="457200" lvl="0" indent="-228600" defTabSz="914400"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2400" b="1" dirty="0" err="1">
                <a:latin typeface="+mj-lt"/>
              </a:rPr>
              <a:t>strukturach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danych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typu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drzewo</a:t>
            </a:r>
            <a:endParaRPr lang="en-US" sz="2400" b="1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2400" b="1" dirty="0" err="1">
                <a:latin typeface="+mj-lt"/>
              </a:rPr>
              <a:t>sieciach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społecznościowych</a:t>
            </a:r>
            <a:endParaRPr lang="en-US" sz="2400" b="1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2400" b="1" dirty="0" err="1">
                <a:latin typeface="+mj-lt"/>
              </a:rPr>
              <a:t>systemach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zarządzania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treścią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Bibliografia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264600" y="11446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https://www.omg.org/spec/UML/2.5.1/PDF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</TotalTime>
  <Words>154</Words>
  <Application>Microsoft Macintosh PowerPoint</Application>
  <PresentationFormat>On-screen Show (16:9)</PresentationFormat>
  <Paragraphs>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Rockwell</vt:lpstr>
      <vt:lpstr>Arial</vt:lpstr>
      <vt:lpstr>Wingdings</vt:lpstr>
      <vt:lpstr>Calibri Light</vt:lpstr>
      <vt:lpstr>Atlas</vt:lpstr>
      <vt:lpstr>Asocjacja: zaawansowane aspekty</vt:lpstr>
      <vt:lpstr>Asocjacja  n-krotna</vt:lpstr>
      <vt:lpstr>Asocjacja n-krotna w UML</vt:lpstr>
      <vt:lpstr>Asocjacja rekurencyjna</vt:lpstr>
      <vt:lpstr>Asocjacja rekurencyjna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Kamil Marczak (284229)</cp:lastModifiedBy>
  <cp:revision>4</cp:revision>
  <dcterms:modified xsi:type="dcterms:W3CDTF">2026-03-10T08:42:42Z</dcterms:modified>
</cp:coreProperties>
</file>