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6858000" cy="9144000"/>
  <p:embeddedFontLst>
    <p:embeddedFont>
      <p:font typeface="Rockwell" panose="02060603020205020403" pitchFamily="18" charset="77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714"/>
  </p:normalViewPr>
  <p:slideViewPr>
    <p:cSldViewPr snapToGrid="0">
      <p:cViewPr varScale="1">
        <p:scale>
          <a:sx n="153" d="100"/>
          <a:sy n="153" d="100"/>
        </p:scale>
        <p:origin x="56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df97ccb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df97ccb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W UML klasa jest podstawowym elementem modelowania systemu.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Jej zadaniem jest określenie jakie obiekty mogą istnieć w systemie oraz jakie mają cechy i zachowania.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Każdy obiekt w systemie jest instancją jakiejś klasy.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e1333b90e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e1333b90e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df97ccb8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df97ccb8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df97ccb8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df97ccb8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df97ccb8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df97ccb8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251970" y="889862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7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9200278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5" y="602389"/>
            <a:ext cx="4711405" cy="393646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962580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2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968289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8677678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8" y="1116739"/>
            <a:ext cx="4698263" cy="1272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1182440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40291627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378832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5754860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4456652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28663006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7493418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9563850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963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25C76-1CC6-7044-9442-0A76D9393EC6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 smtClean="0"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71001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spec/UML/2.5.1/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geeksforgeeks.org/java/difference-between-class-and-objec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Klasa, obiekt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Kamil Marczak 284229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AE19E2D2-078B-459F-A431-2037B063F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14035B44-9204-427C-98D0-75678B980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755FDC7E-5938-4B4B-8877-06EE01FCD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F0437E65-E6AA-41CB-8690-97980FE0D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3F0EF991-E8E2-4486-80F2-A9E03DA1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FB081D04-EE00-42EF-BBFB-684673613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12B7F571-868C-421B-8A57-6196C8124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7E4953C7-80FE-46D4-A354-20321F42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2">
              <a:extLst>
                <a:ext uri="{FF2B5EF4-FFF2-40B4-BE49-F238E27FC236}">
                  <a16:creationId xmlns:a16="http://schemas.microsoft.com/office/drawing/2014/main" id="{C60293D3-71F6-45CD-890F-E68F81CDD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940865AC-2494-4A34-80AC-0D78FE9C5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4">
              <a:extLst>
                <a:ext uri="{FF2B5EF4-FFF2-40B4-BE49-F238E27FC236}">
                  <a16:creationId xmlns:a16="http://schemas.microsoft.com/office/drawing/2014/main" id="{E8206DC4-8F5A-4192-BB5B-39A4A2CDD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5">
              <a:extLst>
                <a:ext uri="{FF2B5EF4-FFF2-40B4-BE49-F238E27FC236}">
                  <a16:creationId xmlns:a16="http://schemas.microsoft.com/office/drawing/2014/main" id="{1851F69F-8755-4226-9A81-C27799E32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D85B97EF-28BC-441A-9EBB-81EF34094A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7">
              <a:extLst>
                <a:ext uri="{FF2B5EF4-FFF2-40B4-BE49-F238E27FC236}">
                  <a16:creationId xmlns:a16="http://schemas.microsoft.com/office/drawing/2014/main" id="{7C68D975-1EC2-4BFA-811D-0454109E3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8">
              <a:extLst>
                <a:ext uri="{FF2B5EF4-FFF2-40B4-BE49-F238E27FC236}">
                  <a16:creationId xmlns:a16="http://schemas.microsoft.com/office/drawing/2014/main" id="{251959DD-2AB4-4342-8A28-A25293926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9">
              <a:extLst>
                <a:ext uri="{FF2B5EF4-FFF2-40B4-BE49-F238E27FC236}">
                  <a16:creationId xmlns:a16="http://schemas.microsoft.com/office/drawing/2014/main" id="{785D37AB-3782-4D04-A998-0C126E1BD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0">
              <a:extLst>
                <a:ext uri="{FF2B5EF4-FFF2-40B4-BE49-F238E27FC236}">
                  <a16:creationId xmlns:a16="http://schemas.microsoft.com/office/drawing/2014/main" id="{9313ACA4-E3EA-43A3-822B-DD5DF119D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1">
              <a:extLst>
                <a:ext uri="{FF2B5EF4-FFF2-40B4-BE49-F238E27FC236}">
                  <a16:creationId xmlns:a16="http://schemas.microsoft.com/office/drawing/2014/main" id="{5A98D1AB-DF34-414B-9696-4B671EC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2">
              <a:extLst>
                <a:ext uri="{FF2B5EF4-FFF2-40B4-BE49-F238E27FC236}">
                  <a16:creationId xmlns:a16="http://schemas.microsoft.com/office/drawing/2014/main" id="{8153A7D0-F980-48CC-B318-806C679F4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3">
              <a:extLst>
                <a:ext uri="{FF2B5EF4-FFF2-40B4-BE49-F238E27FC236}">
                  <a16:creationId xmlns:a16="http://schemas.microsoft.com/office/drawing/2014/main" id="{96E44097-7726-43F7-9E27-8BD5BCF89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4">
              <a:extLst>
                <a:ext uri="{FF2B5EF4-FFF2-40B4-BE49-F238E27FC236}">
                  <a16:creationId xmlns:a16="http://schemas.microsoft.com/office/drawing/2014/main" id="{65B28630-DA3C-4E4C-94ED-0ED8F353C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5">
              <a:extLst>
                <a:ext uri="{FF2B5EF4-FFF2-40B4-BE49-F238E27FC236}">
                  <a16:creationId xmlns:a16="http://schemas.microsoft.com/office/drawing/2014/main" id="{1686151F-4919-4A15-9EC3-0329453ED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10C7CFA-FC7F-479C-9026-39109C0B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71A5E3-BBAD-4023-B07C-7FBC4202D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Isosceles Triangle 22">
              <a:extLst>
                <a:ext uri="{FF2B5EF4-FFF2-40B4-BE49-F238E27FC236}">
                  <a16:creationId xmlns:a16="http://schemas.microsoft.com/office/drawing/2014/main" id="{FC05BA5F-5BBE-4BFA-A313-155476233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275B948-0170-4286-84CE-04CA461F2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2957367F-0D64-42F0-A033-660B417F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74C980A-5321-4E88-B6F7-572A3327E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06" name="Freeform 5">
              <a:extLst>
                <a:ext uri="{FF2B5EF4-FFF2-40B4-BE49-F238E27FC236}">
                  <a16:creationId xmlns:a16="http://schemas.microsoft.com/office/drawing/2014/main" id="{C29411DD-732B-4883-8431-BF67EA064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6">
              <a:extLst>
                <a:ext uri="{FF2B5EF4-FFF2-40B4-BE49-F238E27FC236}">
                  <a16:creationId xmlns:a16="http://schemas.microsoft.com/office/drawing/2014/main" id="{0802BDA8-DBFD-4424-9577-4CECD3966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7">
              <a:extLst>
                <a:ext uri="{FF2B5EF4-FFF2-40B4-BE49-F238E27FC236}">
                  <a16:creationId xmlns:a16="http://schemas.microsoft.com/office/drawing/2014/main" id="{3A4651DB-CA25-45C9-BB5B-490E75E10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8">
              <a:extLst>
                <a:ext uri="{FF2B5EF4-FFF2-40B4-BE49-F238E27FC236}">
                  <a16:creationId xmlns:a16="http://schemas.microsoft.com/office/drawing/2014/main" id="{2561519A-19C4-4FAE-B4D2-9967A0285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9">
              <a:extLst>
                <a:ext uri="{FF2B5EF4-FFF2-40B4-BE49-F238E27FC236}">
                  <a16:creationId xmlns:a16="http://schemas.microsoft.com/office/drawing/2014/main" id="{D7536EEC-CD2D-4F8D-8FCE-1B57B67C1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0">
              <a:extLst>
                <a:ext uri="{FF2B5EF4-FFF2-40B4-BE49-F238E27FC236}">
                  <a16:creationId xmlns:a16="http://schemas.microsoft.com/office/drawing/2014/main" id="{F06D071C-EBE9-493C-B2FF-C290E80E6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1">
              <a:extLst>
                <a:ext uri="{FF2B5EF4-FFF2-40B4-BE49-F238E27FC236}">
                  <a16:creationId xmlns:a16="http://schemas.microsoft.com/office/drawing/2014/main" id="{AE43943F-3505-4459-B105-5ADD87A9B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2">
              <a:extLst>
                <a:ext uri="{FF2B5EF4-FFF2-40B4-BE49-F238E27FC236}">
                  <a16:creationId xmlns:a16="http://schemas.microsoft.com/office/drawing/2014/main" id="{DCFA8E01-9AAA-4377-B145-D4C3BC938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3">
              <a:extLst>
                <a:ext uri="{FF2B5EF4-FFF2-40B4-BE49-F238E27FC236}">
                  <a16:creationId xmlns:a16="http://schemas.microsoft.com/office/drawing/2014/main" id="{D0F9B300-29E8-4013-9610-4C98C20F5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4">
              <a:extLst>
                <a:ext uri="{FF2B5EF4-FFF2-40B4-BE49-F238E27FC236}">
                  <a16:creationId xmlns:a16="http://schemas.microsoft.com/office/drawing/2014/main" id="{D80DC548-7776-4F62-9150-EE50775DC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5">
              <a:extLst>
                <a:ext uri="{FF2B5EF4-FFF2-40B4-BE49-F238E27FC236}">
                  <a16:creationId xmlns:a16="http://schemas.microsoft.com/office/drawing/2014/main" id="{FB47EB33-C045-4382-BB34-C409FBFAB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9799171D-9C80-4F36-854F-272AB4CB7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7">
              <a:extLst>
                <a:ext uri="{FF2B5EF4-FFF2-40B4-BE49-F238E27FC236}">
                  <a16:creationId xmlns:a16="http://schemas.microsoft.com/office/drawing/2014/main" id="{36853A3D-C5F1-4325-ABDD-D82962719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8">
              <a:extLst>
                <a:ext uri="{FF2B5EF4-FFF2-40B4-BE49-F238E27FC236}">
                  <a16:creationId xmlns:a16="http://schemas.microsoft.com/office/drawing/2014/main" id="{F36C52C5-A8E2-4FDD-8C82-0B0A36ED2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9">
              <a:extLst>
                <a:ext uri="{FF2B5EF4-FFF2-40B4-BE49-F238E27FC236}">
                  <a16:creationId xmlns:a16="http://schemas.microsoft.com/office/drawing/2014/main" id="{EAB04D6F-5C3B-4BC8-A8D0-F0F70C33F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20">
              <a:extLst>
                <a:ext uri="{FF2B5EF4-FFF2-40B4-BE49-F238E27FC236}">
                  <a16:creationId xmlns:a16="http://schemas.microsoft.com/office/drawing/2014/main" id="{337A064D-A403-4F71-A373-F748D44C1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21">
              <a:extLst>
                <a:ext uri="{FF2B5EF4-FFF2-40B4-BE49-F238E27FC236}">
                  <a16:creationId xmlns:a16="http://schemas.microsoft.com/office/drawing/2014/main" id="{408954A6-C2C2-455F-8AB9-EF03ED0E7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22">
              <a:extLst>
                <a:ext uri="{FF2B5EF4-FFF2-40B4-BE49-F238E27FC236}">
                  <a16:creationId xmlns:a16="http://schemas.microsoft.com/office/drawing/2014/main" id="{98954187-FB8C-4673-8481-D251884C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23">
              <a:extLst>
                <a:ext uri="{FF2B5EF4-FFF2-40B4-BE49-F238E27FC236}">
                  <a16:creationId xmlns:a16="http://schemas.microsoft.com/office/drawing/2014/main" id="{5DE674D7-0925-4935-B299-98744B419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24">
              <a:extLst>
                <a:ext uri="{FF2B5EF4-FFF2-40B4-BE49-F238E27FC236}">
                  <a16:creationId xmlns:a16="http://schemas.microsoft.com/office/drawing/2014/main" id="{0D7AF2ED-2D49-4A69-BAB2-CF989B3B8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25">
              <a:extLst>
                <a:ext uri="{FF2B5EF4-FFF2-40B4-BE49-F238E27FC236}">
                  <a16:creationId xmlns:a16="http://schemas.microsoft.com/office/drawing/2014/main" id="{67F02011-466C-4790-B052-0CB804250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A1FAD6E-B62A-435F-B914-503F8B950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3DCBF1B1-B0BB-40C4-9870-227A638C1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Isosceles Triangle 22">
              <a:extLst>
                <a:ext uri="{FF2B5EF4-FFF2-40B4-BE49-F238E27FC236}">
                  <a16:creationId xmlns:a16="http://schemas.microsoft.com/office/drawing/2014/main" id="{C7D2A079-0082-43E4-9253-BA8D43378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EDFDFEF-7A52-497B-AE56-46D446902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666473" y="1768793"/>
            <a:ext cx="2624234" cy="1840257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4000" spc="-150">
                <a:solidFill>
                  <a:srgbClr val="FFFEFF"/>
                </a:solidFill>
              </a:rPr>
              <a:t>Czym jest klasa?</a:t>
            </a:r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838835" y="598196"/>
            <a:ext cx="4711405" cy="135965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Klasa</a:t>
            </a:r>
            <a:r>
              <a:rPr lang="en-US" dirty="0">
                <a:latin typeface="+mj-lt"/>
              </a:rPr>
              <a:t> w UML </a:t>
            </a:r>
            <a:r>
              <a:rPr lang="en-US" dirty="0" err="1">
                <a:latin typeface="+mj-lt"/>
              </a:rPr>
              <a:t>służy</a:t>
            </a:r>
            <a:r>
              <a:rPr lang="en-US" dirty="0">
                <a:latin typeface="+mj-lt"/>
              </a:rPr>
              <a:t> do </a:t>
            </a:r>
            <a:r>
              <a:rPr lang="en-US" dirty="0" err="1">
                <a:latin typeface="+mj-lt"/>
              </a:rPr>
              <a:t>klasyfikowania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obiektów</a:t>
            </a:r>
            <a:endParaRPr lang="en-US" dirty="0">
              <a:latin typeface="+mj-lt"/>
            </a:endParaRPr>
          </a:p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Określa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strukturę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zachowanie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obiektów</a:t>
            </a:r>
            <a:endParaRPr lang="en-US" dirty="0">
              <a:latin typeface="+mj-lt"/>
            </a:endParaRPr>
          </a:p>
          <a:p>
            <a:pPr marL="457200" lvl="0" indent="-228600" defTabSz="914400"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dirty="0" err="1">
                <a:latin typeface="+mj-lt"/>
              </a:rPr>
              <a:t>Obiekty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są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instancjami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klasy</a:t>
            </a:r>
            <a:endParaRPr lang="en-US" dirty="0">
              <a:latin typeface="+mj-lt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/>
          <a:srcRect t="5732" r="2" b="2"/>
          <a:stretch>
            <a:fillRect/>
          </a:stretch>
        </p:blipFill>
        <p:spPr>
          <a:xfrm>
            <a:off x="3836931" y="2325119"/>
            <a:ext cx="4705920" cy="2218088"/>
          </a:xfrm>
          <a:prstGeom prst="rect">
            <a:avLst/>
          </a:prstGeom>
          <a:noFill/>
          <a:ln w="9525">
            <a:solidFill>
              <a:schemeClr val="tx1">
                <a:alpha val="2000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AE19E2D2-078B-459F-A431-2037B063F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14035B44-9204-427C-98D0-75678B980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55FDC7E-5938-4B4B-8877-06EE01FCD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F0437E65-E6AA-41CB-8690-97980FE0D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3F0EF991-E8E2-4486-80F2-A9E03DA1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FB081D04-EE00-42EF-BBFB-684673613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12B7F571-868C-421B-8A57-6196C8124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7E4953C7-80FE-46D4-A354-20321F42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C60293D3-71F6-45CD-890F-E68F81CDD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940865AC-2494-4A34-80AC-0D78FE9C5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E8206DC4-8F5A-4192-BB5B-39A4A2CDD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1851F69F-8755-4226-9A81-C27799E32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D85B97EF-28BC-441A-9EBB-81EF34094A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7C68D975-1EC2-4BFA-811D-0454109E3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251959DD-2AB4-4342-8A28-A25293926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785D37AB-3782-4D04-A998-0C126E1BD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9313ACA4-E3EA-43A3-822B-DD5DF119D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1">
              <a:extLst>
                <a:ext uri="{FF2B5EF4-FFF2-40B4-BE49-F238E27FC236}">
                  <a16:creationId xmlns:a16="http://schemas.microsoft.com/office/drawing/2014/main" id="{5A98D1AB-DF34-414B-9696-4B671EC20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8153A7D0-F980-48CC-B318-806C679F4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96E44097-7726-43F7-9E27-8BD5BCF89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65B28630-DA3C-4E4C-94ED-0ED8F353C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1686151F-4919-4A15-9EC3-0329453ED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10C7CFA-FC7F-479C-9026-39109C0B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971A5E3-BBAD-4023-B07C-7FBC4202D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Isosceles Triangle 22">
              <a:extLst>
                <a:ext uri="{FF2B5EF4-FFF2-40B4-BE49-F238E27FC236}">
                  <a16:creationId xmlns:a16="http://schemas.microsoft.com/office/drawing/2014/main" id="{FC05BA5F-5BBE-4BFA-A313-1554762332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275B948-0170-4286-84CE-04CA461F2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2957367F-0D64-42F0-A033-660B417FE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A74C980A-5321-4E88-B6F7-572A3327E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13" name="Freeform 5">
              <a:extLst>
                <a:ext uri="{FF2B5EF4-FFF2-40B4-BE49-F238E27FC236}">
                  <a16:creationId xmlns:a16="http://schemas.microsoft.com/office/drawing/2014/main" id="{C29411DD-732B-4883-8431-BF67EA064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6">
              <a:extLst>
                <a:ext uri="{FF2B5EF4-FFF2-40B4-BE49-F238E27FC236}">
                  <a16:creationId xmlns:a16="http://schemas.microsoft.com/office/drawing/2014/main" id="{0802BDA8-DBFD-4424-9577-4CECD3966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7">
              <a:extLst>
                <a:ext uri="{FF2B5EF4-FFF2-40B4-BE49-F238E27FC236}">
                  <a16:creationId xmlns:a16="http://schemas.microsoft.com/office/drawing/2014/main" id="{3A4651DB-CA25-45C9-BB5B-490E75E109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8">
              <a:extLst>
                <a:ext uri="{FF2B5EF4-FFF2-40B4-BE49-F238E27FC236}">
                  <a16:creationId xmlns:a16="http://schemas.microsoft.com/office/drawing/2014/main" id="{2561519A-19C4-4FAE-B4D2-9967A0285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9">
              <a:extLst>
                <a:ext uri="{FF2B5EF4-FFF2-40B4-BE49-F238E27FC236}">
                  <a16:creationId xmlns:a16="http://schemas.microsoft.com/office/drawing/2014/main" id="{D7536EEC-CD2D-4F8D-8FCE-1B57B67C1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0">
              <a:extLst>
                <a:ext uri="{FF2B5EF4-FFF2-40B4-BE49-F238E27FC236}">
                  <a16:creationId xmlns:a16="http://schemas.microsoft.com/office/drawing/2014/main" id="{F06D071C-EBE9-493C-B2FF-C290E80E6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11">
              <a:extLst>
                <a:ext uri="{FF2B5EF4-FFF2-40B4-BE49-F238E27FC236}">
                  <a16:creationId xmlns:a16="http://schemas.microsoft.com/office/drawing/2014/main" id="{AE43943F-3505-4459-B105-5ADD87A9B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12">
              <a:extLst>
                <a:ext uri="{FF2B5EF4-FFF2-40B4-BE49-F238E27FC236}">
                  <a16:creationId xmlns:a16="http://schemas.microsoft.com/office/drawing/2014/main" id="{DCFA8E01-9AAA-4377-B145-D4C3BC938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13">
              <a:extLst>
                <a:ext uri="{FF2B5EF4-FFF2-40B4-BE49-F238E27FC236}">
                  <a16:creationId xmlns:a16="http://schemas.microsoft.com/office/drawing/2014/main" id="{D0F9B300-29E8-4013-9610-4C98C20F5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14">
              <a:extLst>
                <a:ext uri="{FF2B5EF4-FFF2-40B4-BE49-F238E27FC236}">
                  <a16:creationId xmlns:a16="http://schemas.microsoft.com/office/drawing/2014/main" id="{D80DC548-7776-4F62-9150-EE50775DC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15">
              <a:extLst>
                <a:ext uri="{FF2B5EF4-FFF2-40B4-BE49-F238E27FC236}">
                  <a16:creationId xmlns:a16="http://schemas.microsoft.com/office/drawing/2014/main" id="{FB47EB33-C045-4382-BB34-C409FBFAB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9799171D-9C80-4F36-854F-272AB4CB7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7">
              <a:extLst>
                <a:ext uri="{FF2B5EF4-FFF2-40B4-BE49-F238E27FC236}">
                  <a16:creationId xmlns:a16="http://schemas.microsoft.com/office/drawing/2014/main" id="{36853A3D-C5F1-4325-ABDD-D82962719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8">
              <a:extLst>
                <a:ext uri="{FF2B5EF4-FFF2-40B4-BE49-F238E27FC236}">
                  <a16:creationId xmlns:a16="http://schemas.microsoft.com/office/drawing/2014/main" id="{F36C52C5-A8E2-4FDD-8C82-0B0A36ED2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9">
              <a:extLst>
                <a:ext uri="{FF2B5EF4-FFF2-40B4-BE49-F238E27FC236}">
                  <a16:creationId xmlns:a16="http://schemas.microsoft.com/office/drawing/2014/main" id="{EAB04D6F-5C3B-4BC8-A8D0-F0F70C33F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20">
              <a:extLst>
                <a:ext uri="{FF2B5EF4-FFF2-40B4-BE49-F238E27FC236}">
                  <a16:creationId xmlns:a16="http://schemas.microsoft.com/office/drawing/2014/main" id="{337A064D-A403-4F71-A373-F748D44C1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21">
              <a:extLst>
                <a:ext uri="{FF2B5EF4-FFF2-40B4-BE49-F238E27FC236}">
                  <a16:creationId xmlns:a16="http://schemas.microsoft.com/office/drawing/2014/main" id="{408954A6-C2C2-455F-8AB9-EF03ED0E7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22">
              <a:extLst>
                <a:ext uri="{FF2B5EF4-FFF2-40B4-BE49-F238E27FC236}">
                  <a16:creationId xmlns:a16="http://schemas.microsoft.com/office/drawing/2014/main" id="{98954187-FB8C-4673-8481-D251884C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23">
              <a:extLst>
                <a:ext uri="{FF2B5EF4-FFF2-40B4-BE49-F238E27FC236}">
                  <a16:creationId xmlns:a16="http://schemas.microsoft.com/office/drawing/2014/main" id="{5DE674D7-0925-4935-B299-98744B419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24">
              <a:extLst>
                <a:ext uri="{FF2B5EF4-FFF2-40B4-BE49-F238E27FC236}">
                  <a16:creationId xmlns:a16="http://schemas.microsoft.com/office/drawing/2014/main" id="{0D7AF2ED-2D49-4A69-BAB2-CF989B3B8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25">
              <a:extLst>
                <a:ext uri="{FF2B5EF4-FFF2-40B4-BE49-F238E27FC236}">
                  <a16:creationId xmlns:a16="http://schemas.microsoft.com/office/drawing/2014/main" id="{67F02011-466C-4790-B052-0CB804250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0A1FAD6E-B62A-435F-B914-503F8B950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DCBF1B1-B0BB-40C4-9870-227A638C1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Isosceles Triangle 22">
              <a:extLst>
                <a:ext uri="{FF2B5EF4-FFF2-40B4-BE49-F238E27FC236}">
                  <a16:creationId xmlns:a16="http://schemas.microsoft.com/office/drawing/2014/main" id="{C7D2A079-0082-43E4-9253-BA8D43378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6EDFDFEF-7A52-497B-AE56-46D446902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666473" y="1768793"/>
            <a:ext cx="2624234" cy="1840257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4000" spc="-150">
                <a:solidFill>
                  <a:srgbClr val="FFFEFF"/>
                </a:solidFill>
              </a:rPr>
              <a:t>Co posiada klasa</a:t>
            </a:r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838835" y="598196"/>
            <a:ext cx="4711405" cy="135965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228600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1100" dirty="0" err="1">
                <a:latin typeface="+mj-lt"/>
              </a:rPr>
              <a:t>Atrybuty</a:t>
            </a:r>
            <a:r>
              <a:rPr lang="en-US" sz="1100" dirty="0">
                <a:latin typeface="+mj-lt"/>
              </a:rPr>
              <a:t> - </a:t>
            </a:r>
            <a:r>
              <a:rPr lang="en-US" sz="1100" dirty="0" err="1">
                <a:latin typeface="+mj-lt"/>
              </a:rPr>
              <a:t>cechy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opisujące</a:t>
            </a:r>
            <a:r>
              <a:rPr lang="en-US" sz="1100" dirty="0">
                <a:latin typeface="+mj-lt"/>
              </a:rPr>
              <a:t> stan </a:t>
            </a:r>
            <a:r>
              <a:rPr lang="en-US" sz="1100" dirty="0" err="1">
                <a:latin typeface="+mj-lt"/>
              </a:rPr>
              <a:t>obiektów</a:t>
            </a:r>
            <a:endParaRPr lang="en-US" sz="1100" dirty="0">
              <a:latin typeface="+mj-lt"/>
            </a:endParaRPr>
          </a:p>
          <a:p>
            <a:pPr marL="457200" lvl="0" indent="-228600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1100" dirty="0" err="1">
                <a:latin typeface="+mj-lt"/>
              </a:rPr>
              <a:t>Operacje</a:t>
            </a:r>
            <a:r>
              <a:rPr lang="en-US" sz="1100" dirty="0">
                <a:latin typeface="+mj-lt"/>
              </a:rPr>
              <a:t> - </a:t>
            </a:r>
            <a:r>
              <a:rPr lang="en-US" sz="1100" dirty="0" err="1">
                <a:latin typeface="+mj-lt"/>
              </a:rPr>
              <a:t>zachowania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klasy</a:t>
            </a:r>
            <a:endParaRPr lang="en-US" sz="1100" dirty="0">
              <a:latin typeface="+mj-lt"/>
            </a:endParaRPr>
          </a:p>
          <a:p>
            <a:pPr marL="457200" lvl="0" indent="-228600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1100" dirty="0" err="1">
                <a:latin typeface="+mj-lt"/>
              </a:rPr>
              <a:t>Receptory</a:t>
            </a:r>
            <a:r>
              <a:rPr lang="en-US" sz="1100" dirty="0">
                <a:latin typeface="+mj-lt"/>
              </a:rPr>
              <a:t> - </a:t>
            </a:r>
            <a:r>
              <a:rPr lang="en-US" sz="1100" dirty="0" err="1">
                <a:latin typeface="+mj-lt"/>
              </a:rPr>
              <a:t>wspomagają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komunikację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między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obiektami</a:t>
            </a:r>
            <a:endParaRPr lang="en-US" sz="1100" dirty="0">
              <a:latin typeface="+mj-lt"/>
            </a:endParaRPr>
          </a:p>
          <a:p>
            <a:pPr marL="457200" lvl="0" indent="-228600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10000"/>
              <a:buFont typeface="Wingdings" panose="05000000000000000000" pitchFamily="2" charset="2"/>
              <a:buChar char="§"/>
            </a:pPr>
            <a:r>
              <a:rPr lang="en-US" sz="1100" dirty="0" err="1">
                <a:latin typeface="+mj-lt"/>
              </a:rPr>
              <a:t>Strukturę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Wewnętrzną</a:t>
            </a:r>
            <a:r>
              <a:rPr lang="en-US" sz="1100" dirty="0">
                <a:latin typeface="+mj-lt"/>
              </a:rPr>
              <a:t> - </a:t>
            </a:r>
            <a:r>
              <a:rPr lang="en-US" sz="1100" dirty="0" err="1">
                <a:latin typeface="+mj-lt"/>
              </a:rPr>
              <a:t>zależności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między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komponentami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klasy</a:t>
            </a:r>
            <a:endParaRPr lang="en-US" sz="1100" dirty="0">
              <a:latin typeface="+mj-lt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/>
          <a:srcRect t="5732" r="2" b="2"/>
          <a:stretch>
            <a:fillRect/>
          </a:stretch>
        </p:blipFill>
        <p:spPr>
          <a:xfrm>
            <a:off x="3836931" y="2325119"/>
            <a:ext cx="4705920" cy="2218088"/>
          </a:xfrm>
          <a:prstGeom prst="rect">
            <a:avLst/>
          </a:prstGeom>
          <a:noFill/>
          <a:ln w="9525">
            <a:solidFill>
              <a:schemeClr val="tx1">
                <a:alpha val="2000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E8DD8E1A-9945-4DBA-BC40-7A028BF32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90" name="Freeform 5">
              <a:extLst>
                <a:ext uri="{FF2B5EF4-FFF2-40B4-BE49-F238E27FC236}">
                  <a16:creationId xmlns:a16="http://schemas.microsoft.com/office/drawing/2014/main" id="{FE1C52F1-9DDF-4839-9B8F-25F7F8D42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>
              <a:extLst>
                <a:ext uri="{FF2B5EF4-FFF2-40B4-BE49-F238E27FC236}">
                  <a16:creationId xmlns:a16="http://schemas.microsoft.com/office/drawing/2014/main" id="{DB25E450-AEBE-4B5B-9CD7-7DDA5128D0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>
              <a:extLst>
                <a:ext uri="{FF2B5EF4-FFF2-40B4-BE49-F238E27FC236}">
                  <a16:creationId xmlns:a16="http://schemas.microsoft.com/office/drawing/2014/main" id="{D57AF4B2-B19E-4839-9D9C-06AD5370C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>
              <a:extLst>
                <a:ext uri="{FF2B5EF4-FFF2-40B4-BE49-F238E27FC236}">
                  <a16:creationId xmlns:a16="http://schemas.microsoft.com/office/drawing/2014/main" id="{2949CEBF-F4A7-44B2-8A3B-22558718F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>
              <a:extLst>
                <a:ext uri="{FF2B5EF4-FFF2-40B4-BE49-F238E27FC236}">
                  <a16:creationId xmlns:a16="http://schemas.microsoft.com/office/drawing/2014/main" id="{28EAA589-93ED-485D-96BB-B9B21EC96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>
              <a:extLst>
                <a:ext uri="{FF2B5EF4-FFF2-40B4-BE49-F238E27FC236}">
                  <a16:creationId xmlns:a16="http://schemas.microsoft.com/office/drawing/2014/main" id="{4BB4F238-A1F2-45F6-9074-18C4A9F921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>
              <a:extLst>
                <a:ext uri="{FF2B5EF4-FFF2-40B4-BE49-F238E27FC236}">
                  <a16:creationId xmlns:a16="http://schemas.microsoft.com/office/drawing/2014/main" id="{1C658EE5-B46E-48ED-822D-1C3F08ECA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>
              <a:extLst>
                <a:ext uri="{FF2B5EF4-FFF2-40B4-BE49-F238E27FC236}">
                  <a16:creationId xmlns:a16="http://schemas.microsoft.com/office/drawing/2014/main" id="{82AA74BE-73A4-4ADC-B86C-833704C0C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>
              <a:extLst>
                <a:ext uri="{FF2B5EF4-FFF2-40B4-BE49-F238E27FC236}">
                  <a16:creationId xmlns:a16="http://schemas.microsoft.com/office/drawing/2014/main" id="{2018BD4B-A593-4075-9FDB-4739C6D53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>
              <a:extLst>
                <a:ext uri="{FF2B5EF4-FFF2-40B4-BE49-F238E27FC236}">
                  <a16:creationId xmlns:a16="http://schemas.microsoft.com/office/drawing/2014/main" id="{0D16E44B-CE60-491F-B907-D02B0B1EE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>
              <a:extLst>
                <a:ext uri="{FF2B5EF4-FFF2-40B4-BE49-F238E27FC236}">
                  <a16:creationId xmlns:a16="http://schemas.microsoft.com/office/drawing/2014/main" id="{2DFA7256-7E90-44B6-8E90-2111C1A1F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CE31CD09-2348-4B3A-9C97-CEECA4ABC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>
              <a:extLst>
                <a:ext uri="{FF2B5EF4-FFF2-40B4-BE49-F238E27FC236}">
                  <a16:creationId xmlns:a16="http://schemas.microsoft.com/office/drawing/2014/main" id="{4E5422EF-93F2-41A9-B30F-9EFE9241D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>
              <a:extLst>
                <a:ext uri="{FF2B5EF4-FFF2-40B4-BE49-F238E27FC236}">
                  <a16:creationId xmlns:a16="http://schemas.microsoft.com/office/drawing/2014/main" id="{7920E29F-BB48-485F-95FF-5C372339C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>
              <a:extLst>
                <a:ext uri="{FF2B5EF4-FFF2-40B4-BE49-F238E27FC236}">
                  <a16:creationId xmlns:a16="http://schemas.microsoft.com/office/drawing/2014/main" id="{ACFDB0E0-ECEB-4EEB-925D-4BE22979C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>
              <a:extLst>
                <a:ext uri="{FF2B5EF4-FFF2-40B4-BE49-F238E27FC236}">
                  <a16:creationId xmlns:a16="http://schemas.microsoft.com/office/drawing/2014/main" id="{30CE2542-FFC2-4E6A-9F84-265FE415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>
              <a:extLst>
                <a:ext uri="{FF2B5EF4-FFF2-40B4-BE49-F238E27FC236}">
                  <a16:creationId xmlns:a16="http://schemas.microsoft.com/office/drawing/2014/main" id="{2864C497-B900-4D3E-895C-A2A823A3C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>
              <a:extLst>
                <a:ext uri="{FF2B5EF4-FFF2-40B4-BE49-F238E27FC236}">
                  <a16:creationId xmlns:a16="http://schemas.microsoft.com/office/drawing/2014/main" id="{26441ED2-272A-4395-9966-F5B1C8D3F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>
              <a:extLst>
                <a:ext uri="{FF2B5EF4-FFF2-40B4-BE49-F238E27FC236}">
                  <a16:creationId xmlns:a16="http://schemas.microsoft.com/office/drawing/2014/main" id="{701CA35D-3DE0-4BE9-96A9-31A6F24DB8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4">
              <a:extLst>
                <a:ext uri="{FF2B5EF4-FFF2-40B4-BE49-F238E27FC236}">
                  <a16:creationId xmlns:a16="http://schemas.microsoft.com/office/drawing/2014/main" id="{C9367E8C-A75F-4D57-8B79-1B3EEDFD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25">
              <a:extLst>
                <a:ext uri="{FF2B5EF4-FFF2-40B4-BE49-F238E27FC236}">
                  <a16:creationId xmlns:a16="http://schemas.microsoft.com/office/drawing/2014/main" id="{0846F98D-8409-4D6C-B830-625CC19E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35369DB-627C-41BD-9041-6426E8BF6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BA15987-DDC0-4CAB-AF5B-7D11E25D2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4" name="Isosceles Triangle 22">
              <a:extLst>
                <a:ext uri="{FF2B5EF4-FFF2-40B4-BE49-F238E27FC236}">
                  <a16:creationId xmlns:a16="http://schemas.microsoft.com/office/drawing/2014/main" id="{9B6DF8F2-BD4C-48F5-8CDC-95B311500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E989FB2-D6DE-43D1-84D5-1C80F990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17D615BD-F761-402C-9FFB-C47F6F11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F339C06-755E-4B75-A9EF-348BE1C7A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3134" y="0"/>
            <a:ext cx="9438087" cy="5139928"/>
            <a:chOff x="-417513" y="0"/>
            <a:chExt cx="12584114" cy="6853238"/>
          </a:xfrm>
        </p:grpSpPr>
        <p:sp>
          <p:nvSpPr>
            <p:cNvPr id="120" name="Freeform 5">
              <a:extLst>
                <a:ext uri="{FF2B5EF4-FFF2-40B4-BE49-F238E27FC236}">
                  <a16:creationId xmlns:a16="http://schemas.microsoft.com/office/drawing/2014/main" id="{C72B190B-8B0D-4004-B60E-EF20BD8F5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6">
              <a:extLst>
                <a:ext uri="{FF2B5EF4-FFF2-40B4-BE49-F238E27FC236}">
                  <a16:creationId xmlns:a16="http://schemas.microsoft.com/office/drawing/2014/main" id="{B2DA77DC-B810-428E-A1CC-2FA9BD2A4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7">
              <a:extLst>
                <a:ext uri="{FF2B5EF4-FFF2-40B4-BE49-F238E27FC236}">
                  <a16:creationId xmlns:a16="http://schemas.microsoft.com/office/drawing/2014/main" id="{1B0311D2-C06B-4E44-9731-6638A3287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8">
              <a:extLst>
                <a:ext uri="{FF2B5EF4-FFF2-40B4-BE49-F238E27FC236}">
                  <a16:creationId xmlns:a16="http://schemas.microsoft.com/office/drawing/2014/main" id="{A773EEFA-F4D6-4080-9798-EB34A5E9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9">
              <a:extLst>
                <a:ext uri="{FF2B5EF4-FFF2-40B4-BE49-F238E27FC236}">
                  <a16:creationId xmlns:a16="http://schemas.microsoft.com/office/drawing/2014/main" id="{3CD4AEFD-ABA1-4BDD-AA06-587AC7042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10">
              <a:extLst>
                <a:ext uri="{FF2B5EF4-FFF2-40B4-BE49-F238E27FC236}">
                  <a16:creationId xmlns:a16="http://schemas.microsoft.com/office/drawing/2014/main" id="{24F91B73-3E14-4924-8C86-0C2220CDC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11">
              <a:extLst>
                <a:ext uri="{FF2B5EF4-FFF2-40B4-BE49-F238E27FC236}">
                  <a16:creationId xmlns:a16="http://schemas.microsoft.com/office/drawing/2014/main" id="{2259BFDF-B4C8-472D-890F-E51D3327A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12">
              <a:extLst>
                <a:ext uri="{FF2B5EF4-FFF2-40B4-BE49-F238E27FC236}">
                  <a16:creationId xmlns:a16="http://schemas.microsoft.com/office/drawing/2014/main" id="{2647038D-66B9-41C1-917E-322D6A6E8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Freeform 13">
              <a:extLst>
                <a:ext uri="{FF2B5EF4-FFF2-40B4-BE49-F238E27FC236}">
                  <a16:creationId xmlns:a16="http://schemas.microsoft.com/office/drawing/2014/main" id="{9B6284EB-3C71-4A05-B5C1-FB7A66760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14">
              <a:extLst>
                <a:ext uri="{FF2B5EF4-FFF2-40B4-BE49-F238E27FC236}">
                  <a16:creationId xmlns:a16="http://schemas.microsoft.com/office/drawing/2014/main" id="{51D60F0E-96C4-4851-96A0-6FBDBCDC90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Freeform 15">
              <a:extLst>
                <a:ext uri="{FF2B5EF4-FFF2-40B4-BE49-F238E27FC236}">
                  <a16:creationId xmlns:a16="http://schemas.microsoft.com/office/drawing/2014/main" id="{13360417-75A4-4A7A-AD4E-01FB71AE9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169EFC4A-1AFE-4136-B688-28E2713E14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17">
              <a:extLst>
                <a:ext uri="{FF2B5EF4-FFF2-40B4-BE49-F238E27FC236}">
                  <a16:creationId xmlns:a16="http://schemas.microsoft.com/office/drawing/2014/main" id="{65E9F922-2BBA-4FC7-AA30-1FCB644EC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18">
              <a:extLst>
                <a:ext uri="{FF2B5EF4-FFF2-40B4-BE49-F238E27FC236}">
                  <a16:creationId xmlns:a16="http://schemas.microsoft.com/office/drawing/2014/main" id="{D9EFB3D6-576F-4DD8-89C8-53B9EFBF05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Freeform 19">
              <a:extLst>
                <a:ext uri="{FF2B5EF4-FFF2-40B4-BE49-F238E27FC236}">
                  <a16:creationId xmlns:a16="http://schemas.microsoft.com/office/drawing/2014/main" id="{69A2F58E-003D-4106-8A53-12FD5B67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20">
              <a:extLst>
                <a:ext uri="{FF2B5EF4-FFF2-40B4-BE49-F238E27FC236}">
                  <a16:creationId xmlns:a16="http://schemas.microsoft.com/office/drawing/2014/main" id="{78BBCD57-1744-4519-8DEF-4B4E4016C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Freeform 21">
              <a:extLst>
                <a:ext uri="{FF2B5EF4-FFF2-40B4-BE49-F238E27FC236}">
                  <a16:creationId xmlns:a16="http://schemas.microsoft.com/office/drawing/2014/main" id="{CD541280-E3F7-431D-8B7C-32FE91C82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22">
              <a:extLst>
                <a:ext uri="{FF2B5EF4-FFF2-40B4-BE49-F238E27FC236}">
                  <a16:creationId xmlns:a16="http://schemas.microsoft.com/office/drawing/2014/main" id="{B9605BFB-55AA-451B-8375-7C78ED77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Freeform 23">
              <a:extLst>
                <a:ext uri="{FF2B5EF4-FFF2-40B4-BE49-F238E27FC236}">
                  <a16:creationId xmlns:a16="http://schemas.microsoft.com/office/drawing/2014/main" id="{B93B191B-FA7F-4A8A-955E-3E03CA202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Freeform 24">
              <a:extLst>
                <a:ext uri="{FF2B5EF4-FFF2-40B4-BE49-F238E27FC236}">
                  <a16:creationId xmlns:a16="http://schemas.microsoft.com/office/drawing/2014/main" id="{3D879DF8-1B50-4C8F-81A7-887F63FEC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Freeform 25">
              <a:extLst>
                <a:ext uri="{FF2B5EF4-FFF2-40B4-BE49-F238E27FC236}">
                  <a16:creationId xmlns:a16="http://schemas.microsoft.com/office/drawing/2014/main" id="{0726ECBE-53E3-4C32-B912-7056C3594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ED00603-AF66-483B-8A37-EF4FB27B5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108" y="1274691"/>
            <a:ext cx="2755857" cy="2602816"/>
            <a:chOff x="697883" y="1816768"/>
            <a:chExt cx="3674476" cy="347042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FF2716E-8C1F-4BFB-8314-F923DAE11F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Isosceles Triangle 22">
              <a:extLst>
                <a:ext uri="{FF2B5EF4-FFF2-40B4-BE49-F238E27FC236}">
                  <a16:creationId xmlns:a16="http://schemas.microsoft.com/office/drawing/2014/main" id="{D57E0FA4-F289-4A4A-BFCA-0BAB4EBD9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784988A4-A6D5-42C6-9F65-B62AD07AE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666473" y="1768793"/>
            <a:ext cx="2624234" cy="1840257"/>
          </a:xfrm>
          <a:prstGeom prst="rect">
            <a:avLst/>
          </a:prstGeom>
        </p:spPr>
        <p:txBody>
          <a:bodyPr spcFirstLastPara="1" vert="horz" lIns="228600" tIns="228600" rIns="228600" bIns="228600" rtlCol="0" anchor="ctr" anchorCtr="0">
            <a:normAutofit/>
          </a:bodyPr>
          <a:lstStyle/>
          <a:p>
            <a:pPr marL="0" lvl="0" indent="0" defTabSz="914400">
              <a:spcBef>
                <a:spcPct val="0"/>
              </a:spcBef>
              <a:spcAft>
                <a:spcPts val="0"/>
              </a:spcAft>
            </a:pPr>
            <a:r>
              <a:rPr lang="en-US" sz="4000" spc="-150">
                <a:solidFill>
                  <a:srgbClr val="FFFEFF"/>
                </a:solidFill>
              </a:rPr>
              <a:t>Klasa w UML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3838835" y="598196"/>
            <a:ext cx="4711405" cy="135965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-228600" defTabSz="914400">
              <a:spcBef>
                <a:spcPts val="0"/>
              </a:spcBef>
              <a:spcAft>
                <a:spcPts val="0"/>
              </a:spcAft>
              <a:buSzPct val="110000"/>
              <a:buFont typeface="Wingdings" panose="05000000000000000000" pitchFamily="2" charset="2"/>
              <a:buChar char="§"/>
            </a:pPr>
            <a:endParaRPr lang="en-US"/>
          </a:p>
          <a:p>
            <a:pPr marL="0" lvl="0" indent="-228600" defTabSz="914400">
              <a:spcBef>
                <a:spcPts val="1200"/>
              </a:spcBef>
              <a:spcAft>
                <a:spcPts val="1200"/>
              </a:spcAft>
              <a:buSzPct val="110000"/>
              <a:buFont typeface="Wingdings" panose="05000000000000000000" pitchFamily="2" charset="2"/>
              <a:buChar char="§"/>
            </a:pPr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43E3F57-8521-4C38-8B54-70B06426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4012" y="2322870"/>
            <a:ext cx="4704198" cy="22203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059780" y="2453389"/>
            <a:ext cx="4254646" cy="196777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Visibility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063" y="1296463"/>
            <a:ext cx="2886075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1013" y="661263"/>
            <a:ext cx="257385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6643375" y="1855963"/>
            <a:ext cx="3297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2700" b="1">
                <a:solidFill>
                  <a:schemeClr val="accent1"/>
                </a:solidFill>
              </a:rPr>
              <a:t>+</a:t>
            </a:r>
            <a:endParaRPr sz="27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2700" b="1">
                <a:solidFill>
                  <a:schemeClr val="accent1"/>
                </a:solidFill>
              </a:rPr>
              <a:t>#</a:t>
            </a:r>
            <a:endParaRPr sz="27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sz="2700" b="1">
                <a:solidFill>
                  <a:schemeClr val="accent1"/>
                </a:solidFill>
              </a:rPr>
              <a:t>-</a:t>
            </a:r>
            <a:endParaRPr sz="2700" b="1">
              <a:solidFill>
                <a:schemeClr val="accent1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7117725" y="1855963"/>
            <a:ext cx="1889400" cy="1354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accent1"/>
                </a:solidFill>
              </a:rPr>
              <a:t>public</a:t>
            </a:r>
            <a:endParaRPr sz="190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accent1"/>
                </a:solidFill>
              </a:rPr>
              <a:t>protected</a:t>
            </a:r>
            <a:endParaRPr sz="190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900">
                <a:solidFill>
                  <a:schemeClr val="accent1"/>
                </a:solidFill>
              </a:rPr>
              <a:t>private</a:t>
            </a:r>
            <a:endParaRPr sz="19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Bibliografia</a:t>
            </a: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u="sng">
                <a:solidFill>
                  <a:schemeClr val="hlink"/>
                </a:solidFill>
                <a:hlinkClick r:id="rId3"/>
              </a:rPr>
              <a:t>https://www.omg.org/spec/UML/2.5.1/PDF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 u="sng">
                <a:solidFill>
                  <a:schemeClr val="hlink"/>
                </a:solidFill>
                <a:hlinkClick r:id="rId4"/>
              </a:rPr>
              <a:t>https://www.geeksforgeeks.org/java/difference-between-class-and-object/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0</TotalTime>
  <Words>125</Words>
  <Application>Microsoft Macintosh PowerPoint</Application>
  <PresentationFormat>On-screen Show (16:9)</PresentationFormat>
  <Paragraphs>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Rockwell</vt:lpstr>
      <vt:lpstr>Arial</vt:lpstr>
      <vt:lpstr>Wingdings</vt:lpstr>
      <vt:lpstr>Calibri Light</vt:lpstr>
      <vt:lpstr>Atlas</vt:lpstr>
      <vt:lpstr>Klasa, obiekt</vt:lpstr>
      <vt:lpstr>Czym jest klasa?</vt:lpstr>
      <vt:lpstr>Co posiada klasa</vt:lpstr>
      <vt:lpstr>Klasa w UML</vt:lpstr>
      <vt:lpstr>Visibility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Kamil Marczak (284229)</cp:lastModifiedBy>
  <cp:revision>4</cp:revision>
  <dcterms:modified xsi:type="dcterms:W3CDTF">2026-03-10T08:38:43Z</dcterms:modified>
</cp:coreProperties>
</file>