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ckwell" panose="02060603020205020403" pitchFamily="18" charset="77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4"/>
  </p:normalViewPr>
  <p:slideViewPr>
    <p:cSldViewPr snapToGrid="0">
      <p:cViewPr varScale="1">
        <p:scale>
          <a:sx n="127" d="100"/>
          <a:sy n="127" d="100"/>
        </p:scale>
        <p:origin x="184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dfb7c21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dfb7c21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e1238988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e1238988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dfb7c211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dfb7c2116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dfb7c211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dfb7c211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1238988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e1238988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fb7c211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dfb7c211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1759356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5945519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9776757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1469770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7097178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5076693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15652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0102677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6414566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3826260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0903912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148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17973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Asocjacja: podstawowe właściwości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Kamil Marczak 284229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8DD8E1A-9945-4DBA-BC40-7A028BF3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36" name="Freeform 5">
              <a:extLst>
                <a:ext uri="{FF2B5EF4-FFF2-40B4-BE49-F238E27FC236}">
                  <a16:creationId xmlns:a16="http://schemas.microsoft.com/office/drawing/2014/main" id="{FE1C52F1-9DDF-4839-9B8F-25F7F8D42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6">
              <a:extLst>
                <a:ext uri="{FF2B5EF4-FFF2-40B4-BE49-F238E27FC236}">
                  <a16:creationId xmlns:a16="http://schemas.microsoft.com/office/drawing/2014/main" id="{DB25E450-AEBE-4B5B-9CD7-7DDA5128D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D57AF4B2-B19E-4839-9D9C-06AD5370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2949CEBF-F4A7-44B2-8A3B-22558718F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28EAA589-93ED-485D-96BB-B9B21EC96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4BB4F238-A1F2-45F6-9074-18C4A9F9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658EE5-B46E-48ED-822D-1C3F08ECA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2AA74BE-73A4-4ADC-B86C-833704C0C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2018BD4B-A593-4075-9FDB-4739C6D53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0D16E44B-CE60-491F-B907-D02B0B1E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2DFA7256-7E90-44B6-8E90-2111C1A1F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CE31CD09-2348-4B3A-9C97-CEECA4ABC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4E5422EF-93F2-41A9-B30F-9EFE9241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7920E29F-BB48-485F-95FF-5C372339C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CFDB0E0-ECEB-4EEB-925D-4BE22979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30CE2542-FFC2-4E6A-9F84-265FE415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2864C497-B900-4D3E-895C-A2A823A3C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26441ED2-272A-4395-9966-F5B1C8D3F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701CA35D-3DE0-4BE9-96A9-31A6F24DB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C9367E8C-A75F-4D57-8B79-1B3EEDFD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0846F98D-8409-4D6C-B830-625CC19E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35369DB-627C-41BD-9041-6426E8BF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BA15987-DDC0-4CAB-AF5B-7D11E25D2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Isosceles Triangle 22">
              <a:extLst>
                <a:ext uri="{FF2B5EF4-FFF2-40B4-BE49-F238E27FC236}">
                  <a16:creationId xmlns:a16="http://schemas.microsoft.com/office/drawing/2014/main" id="{9B6DF8F2-BD4C-48F5-8CDC-95B311500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E989FB2-D6DE-43D1-84D5-1C80F990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795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47255" y="-44532"/>
            <a:ext cx="9386886" cy="5192848"/>
            <a:chOff x="-329674" y="-51881"/>
            <a:chExt cx="12515851" cy="6923798"/>
          </a:xfrm>
        </p:grpSpPr>
        <p:sp>
          <p:nvSpPr>
            <p:cNvPr id="163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66473" y="3570099"/>
            <a:ext cx="2960565" cy="1333371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algn="l" defTabSz="914400">
              <a:spcBef>
                <a:spcPct val="0"/>
              </a:spcBef>
              <a:spcAft>
                <a:spcPts val="0"/>
              </a:spcAft>
            </a:pPr>
            <a:r>
              <a:rPr lang="en-US" sz="3100" spc="-150">
                <a:solidFill>
                  <a:srgbClr val="FFFEFF"/>
                </a:solidFill>
              </a:rPr>
              <a:t>Czym jest asocjacja?</a:t>
            </a:r>
          </a:p>
        </p:txBody>
      </p:sp>
      <p:sp>
        <p:nvSpPr>
          <p:cNvPr id="182" name="Freeform: Shape 125">
            <a:extLst>
              <a:ext uri="{FF2B5EF4-FFF2-40B4-BE49-F238E27FC236}">
                <a16:creationId xmlns:a16="http://schemas.microsoft.com/office/drawing/2014/main" id="{44C110BA-81E8-4247-853A-5F2B93E9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03368"/>
          </a:xfrm>
          <a:custGeom>
            <a:avLst/>
            <a:gdLst>
              <a:gd name="connsiteX0" fmla="*/ 0 w 12192000"/>
              <a:gd name="connsiteY0" fmla="*/ 0 h 4537825"/>
              <a:gd name="connsiteX1" fmla="*/ 12192000 w 12192000"/>
              <a:gd name="connsiteY1" fmla="*/ 0 h 4537825"/>
              <a:gd name="connsiteX2" fmla="*/ 12192000 w 12192000"/>
              <a:gd name="connsiteY2" fmla="*/ 3020937 h 4537825"/>
              <a:gd name="connsiteX3" fmla="*/ 12192000 w 12192000"/>
              <a:gd name="connsiteY3" fmla="*/ 3213062 h 4537825"/>
              <a:gd name="connsiteX4" fmla="*/ 12192000 w 12192000"/>
              <a:gd name="connsiteY4" fmla="*/ 4188880 h 4537825"/>
              <a:gd name="connsiteX5" fmla="*/ 12113803 w 12192000"/>
              <a:gd name="connsiteY5" fmla="*/ 4197163 h 4537825"/>
              <a:gd name="connsiteX6" fmla="*/ 6753597 w 12192000"/>
              <a:gd name="connsiteY6" fmla="*/ 4520720 h 4537825"/>
              <a:gd name="connsiteX7" fmla="*/ 400746 w 12192000"/>
              <a:gd name="connsiteY7" fmla="*/ 4349377 h 4537825"/>
              <a:gd name="connsiteX8" fmla="*/ 0 w 12192000"/>
              <a:gd name="connsiteY8" fmla="*/ 4312401 h 4537825"/>
              <a:gd name="connsiteX9" fmla="*/ 0 w 12192000"/>
              <a:gd name="connsiteY9" fmla="*/ 3213062 h 4537825"/>
              <a:gd name="connsiteX10" fmla="*/ 0 w 12192000"/>
              <a:gd name="connsiteY10" fmla="*/ 3020937 h 4537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537825">
                <a:moveTo>
                  <a:pt x="0" y="0"/>
                </a:moveTo>
                <a:lnTo>
                  <a:pt x="12192000" y="0"/>
                </a:lnTo>
                <a:lnTo>
                  <a:pt x="12192000" y="3020937"/>
                </a:lnTo>
                <a:lnTo>
                  <a:pt x="12192000" y="3213062"/>
                </a:lnTo>
                <a:lnTo>
                  <a:pt x="12192000" y="4188880"/>
                </a:lnTo>
                <a:lnTo>
                  <a:pt x="12113803" y="4197163"/>
                </a:lnTo>
                <a:cubicBezTo>
                  <a:pt x="10139508" y="4395112"/>
                  <a:pt x="8237152" y="4488115"/>
                  <a:pt x="6753597" y="4520720"/>
                </a:cubicBezTo>
                <a:cubicBezTo>
                  <a:pt x="4940362" y="4560569"/>
                  <a:pt x="2657278" y="4541239"/>
                  <a:pt x="400746" y="4349377"/>
                </a:cubicBezTo>
                <a:lnTo>
                  <a:pt x="0" y="4312401"/>
                </a:lnTo>
                <a:lnTo>
                  <a:pt x="0" y="3213062"/>
                </a:lnTo>
                <a:lnTo>
                  <a:pt x="0" y="3020937"/>
                </a:lnTo>
                <a:close/>
              </a:path>
            </a:pathLst>
          </a:custGeom>
          <a:solidFill>
            <a:schemeClr val="tx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82600" y="965538"/>
            <a:ext cx="8185545" cy="1596180"/>
          </a:xfrm>
          <a:prstGeom prst="rect">
            <a:avLst/>
          </a:prstGeom>
          <a:noFill/>
        </p:spPr>
      </p:pic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838835" y="3575745"/>
            <a:ext cx="4711405" cy="13277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relacja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między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elementami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modelu</a:t>
            </a:r>
            <a:endParaRPr lang="en-US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najczęściej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między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klasami</a:t>
            </a:r>
            <a:endParaRPr lang="en-US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opisuje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powiązanie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obiektów</a:t>
            </a:r>
            <a:endParaRPr lang="en-US" dirty="0">
              <a:latin typeface="+mj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8DD8E1A-9945-4DBA-BC40-7A028BF3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43" name="Freeform 5">
              <a:extLst>
                <a:ext uri="{FF2B5EF4-FFF2-40B4-BE49-F238E27FC236}">
                  <a16:creationId xmlns:a16="http://schemas.microsoft.com/office/drawing/2014/main" id="{FE1C52F1-9DDF-4839-9B8F-25F7F8D42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6">
              <a:extLst>
                <a:ext uri="{FF2B5EF4-FFF2-40B4-BE49-F238E27FC236}">
                  <a16:creationId xmlns:a16="http://schemas.microsoft.com/office/drawing/2014/main" id="{DB25E450-AEBE-4B5B-9CD7-7DDA5128D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7">
              <a:extLst>
                <a:ext uri="{FF2B5EF4-FFF2-40B4-BE49-F238E27FC236}">
                  <a16:creationId xmlns:a16="http://schemas.microsoft.com/office/drawing/2014/main" id="{D57AF4B2-B19E-4839-9D9C-06AD5370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8">
              <a:extLst>
                <a:ext uri="{FF2B5EF4-FFF2-40B4-BE49-F238E27FC236}">
                  <a16:creationId xmlns:a16="http://schemas.microsoft.com/office/drawing/2014/main" id="{2949CEBF-F4A7-44B2-8A3B-22558718F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9">
              <a:extLst>
                <a:ext uri="{FF2B5EF4-FFF2-40B4-BE49-F238E27FC236}">
                  <a16:creationId xmlns:a16="http://schemas.microsoft.com/office/drawing/2014/main" id="{28EAA589-93ED-485D-96BB-B9B21EC96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10">
              <a:extLst>
                <a:ext uri="{FF2B5EF4-FFF2-40B4-BE49-F238E27FC236}">
                  <a16:creationId xmlns:a16="http://schemas.microsoft.com/office/drawing/2014/main" id="{4BB4F238-A1F2-45F6-9074-18C4A9F9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1">
              <a:extLst>
                <a:ext uri="{FF2B5EF4-FFF2-40B4-BE49-F238E27FC236}">
                  <a16:creationId xmlns:a16="http://schemas.microsoft.com/office/drawing/2014/main" id="{1C658EE5-B46E-48ED-822D-1C3F08ECA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2">
              <a:extLst>
                <a:ext uri="{FF2B5EF4-FFF2-40B4-BE49-F238E27FC236}">
                  <a16:creationId xmlns:a16="http://schemas.microsoft.com/office/drawing/2014/main" id="{82AA74BE-73A4-4ADC-B86C-833704C0C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3">
              <a:extLst>
                <a:ext uri="{FF2B5EF4-FFF2-40B4-BE49-F238E27FC236}">
                  <a16:creationId xmlns:a16="http://schemas.microsoft.com/office/drawing/2014/main" id="{2018BD4B-A593-4075-9FDB-4739C6D53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4">
              <a:extLst>
                <a:ext uri="{FF2B5EF4-FFF2-40B4-BE49-F238E27FC236}">
                  <a16:creationId xmlns:a16="http://schemas.microsoft.com/office/drawing/2014/main" id="{0D16E44B-CE60-491F-B907-D02B0B1E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5">
              <a:extLst>
                <a:ext uri="{FF2B5EF4-FFF2-40B4-BE49-F238E27FC236}">
                  <a16:creationId xmlns:a16="http://schemas.microsoft.com/office/drawing/2014/main" id="{2DFA7256-7E90-44B6-8E90-2111C1A1F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CE31CD09-2348-4B3A-9C97-CEECA4ABC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7">
              <a:extLst>
                <a:ext uri="{FF2B5EF4-FFF2-40B4-BE49-F238E27FC236}">
                  <a16:creationId xmlns:a16="http://schemas.microsoft.com/office/drawing/2014/main" id="{4E5422EF-93F2-41A9-B30F-9EFE9241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8">
              <a:extLst>
                <a:ext uri="{FF2B5EF4-FFF2-40B4-BE49-F238E27FC236}">
                  <a16:creationId xmlns:a16="http://schemas.microsoft.com/office/drawing/2014/main" id="{7920E29F-BB48-485F-95FF-5C372339C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9">
              <a:extLst>
                <a:ext uri="{FF2B5EF4-FFF2-40B4-BE49-F238E27FC236}">
                  <a16:creationId xmlns:a16="http://schemas.microsoft.com/office/drawing/2014/main" id="{ACFDB0E0-ECEB-4EEB-925D-4BE22979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20">
              <a:extLst>
                <a:ext uri="{FF2B5EF4-FFF2-40B4-BE49-F238E27FC236}">
                  <a16:creationId xmlns:a16="http://schemas.microsoft.com/office/drawing/2014/main" id="{30CE2542-FFC2-4E6A-9F84-265FE415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21">
              <a:extLst>
                <a:ext uri="{FF2B5EF4-FFF2-40B4-BE49-F238E27FC236}">
                  <a16:creationId xmlns:a16="http://schemas.microsoft.com/office/drawing/2014/main" id="{2864C497-B900-4D3E-895C-A2A823A3C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22">
              <a:extLst>
                <a:ext uri="{FF2B5EF4-FFF2-40B4-BE49-F238E27FC236}">
                  <a16:creationId xmlns:a16="http://schemas.microsoft.com/office/drawing/2014/main" id="{26441ED2-272A-4395-9966-F5B1C8D3F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3">
              <a:extLst>
                <a:ext uri="{FF2B5EF4-FFF2-40B4-BE49-F238E27FC236}">
                  <a16:creationId xmlns:a16="http://schemas.microsoft.com/office/drawing/2014/main" id="{701CA35D-3DE0-4BE9-96A9-31A6F24DB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24">
              <a:extLst>
                <a:ext uri="{FF2B5EF4-FFF2-40B4-BE49-F238E27FC236}">
                  <a16:creationId xmlns:a16="http://schemas.microsoft.com/office/drawing/2014/main" id="{C9367E8C-A75F-4D57-8B79-1B3EEDFD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25">
              <a:extLst>
                <a:ext uri="{FF2B5EF4-FFF2-40B4-BE49-F238E27FC236}">
                  <a16:creationId xmlns:a16="http://schemas.microsoft.com/office/drawing/2014/main" id="{0846F98D-8409-4D6C-B830-625CC19E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35369DB-627C-41BD-9041-6426E8BF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BA15987-DDC0-4CAB-AF5B-7D11E25D2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Isosceles Triangle 22">
              <a:extLst>
                <a:ext uri="{FF2B5EF4-FFF2-40B4-BE49-F238E27FC236}">
                  <a16:creationId xmlns:a16="http://schemas.microsoft.com/office/drawing/2014/main" id="{9B6DF8F2-BD4C-48F5-8CDC-95B311500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E989FB2-D6DE-43D1-84D5-1C80F990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68" name="Rectangle 167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70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678657" y="596645"/>
            <a:ext cx="7866411" cy="893184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100" spc="-150">
                <a:solidFill>
                  <a:schemeClr val="tx2"/>
                </a:solidFill>
              </a:rPr>
              <a:t>Asocjacja w UML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2772" y="1687710"/>
            <a:ext cx="3719489" cy="275867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27442" y="2728710"/>
            <a:ext cx="3470148" cy="676678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4785527" y="1671637"/>
            <a:ext cx="3771696" cy="277475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Asocjacja</a:t>
            </a:r>
            <a:r>
              <a:rPr lang="en-US" dirty="0">
                <a:latin typeface="+mj-lt"/>
              </a:rPr>
              <a:t> jest </a:t>
            </a:r>
            <a:r>
              <a:rPr lang="en-US" dirty="0" err="1">
                <a:latin typeface="+mj-lt"/>
              </a:rPr>
              <a:t>zazwyczaj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rysowana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jako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ciągła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linia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łącząca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dwa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klasyfikatory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lub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pojedynczy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klasyfikator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sam</a:t>
            </a:r>
            <a:r>
              <a:rPr lang="en-US" dirty="0">
                <a:latin typeface="+mj-lt"/>
              </a:rPr>
              <a:t> ze </a:t>
            </a:r>
            <a:r>
              <a:rPr lang="en-US" dirty="0" err="1">
                <a:latin typeface="+mj-lt"/>
              </a:rPr>
              <a:t>sobą</a:t>
            </a:r>
            <a:r>
              <a:rPr lang="en-US" dirty="0">
                <a:latin typeface="+mj-lt"/>
              </a:rPr>
              <a:t> (</a:t>
            </a:r>
            <a:r>
              <a:rPr lang="en-US" dirty="0" err="1">
                <a:latin typeface="+mj-lt"/>
              </a:rPr>
              <a:t>asocjacja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rekurencyjna</a:t>
            </a:r>
            <a:r>
              <a:rPr lang="en-US" dirty="0">
                <a:latin typeface="+mj-lt"/>
              </a:rPr>
              <a:t>).</a:t>
            </a: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Każdy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koniec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linii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może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być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oznaczony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nazwą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roli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dla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danego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klasyfikatora</a:t>
            </a:r>
            <a:r>
              <a:rPr lang="en-US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CB4DA44-742C-414B-BA05-633FAAFEB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46" name="Freeform 5">
              <a:extLst>
                <a:ext uri="{FF2B5EF4-FFF2-40B4-BE49-F238E27FC236}">
                  <a16:creationId xmlns:a16="http://schemas.microsoft.com/office/drawing/2014/main" id="{646F5217-C700-42DF-A991-60041BF85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6">
              <a:extLst>
                <a:ext uri="{FF2B5EF4-FFF2-40B4-BE49-F238E27FC236}">
                  <a16:creationId xmlns:a16="http://schemas.microsoft.com/office/drawing/2014/main" id="{86B42890-A2EB-4CD5-B95E-28BB1B9DC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7">
              <a:extLst>
                <a:ext uri="{FF2B5EF4-FFF2-40B4-BE49-F238E27FC236}">
                  <a16:creationId xmlns:a16="http://schemas.microsoft.com/office/drawing/2014/main" id="{3C4C7C00-4C35-4304-971D-F6545F151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8">
              <a:extLst>
                <a:ext uri="{FF2B5EF4-FFF2-40B4-BE49-F238E27FC236}">
                  <a16:creationId xmlns:a16="http://schemas.microsoft.com/office/drawing/2014/main" id="{062703B6-D095-40E9-AED8-A3895537F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9">
              <a:extLst>
                <a:ext uri="{FF2B5EF4-FFF2-40B4-BE49-F238E27FC236}">
                  <a16:creationId xmlns:a16="http://schemas.microsoft.com/office/drawing/2014/main" id="{055808A0-E0B8-4AC4-B721-4A61DF27E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">
              <a:extLst>
                <a:ext uri="{FF2B5EF4-FFF2-40B4-BE49-F238E27FC236}">
                  <a16:creationId xmlns:a16="http://schemas.microsoft.com/office/drawing/2014/main" id="{A5C20225-C8C2-466D-BDA5-9CBA8CFE4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1">
              <a:extLst>
                <a:ext uri="{FF2B5EF4-FFF2-40B4-BE49-F238E27FC236}">
                  <a16:creationId xmlns:a16="http://schemas.microsoft.com/office/drawing/2014/main" id="{4FE00035-FBE7-4831-851B-4FEC2CDC9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2">
              <a:extLst>
                <a:ext uri="{FF2B5EF4-FFF2-40B4-BE49-F238E27FC236}">
                  <a16:creationId xmlns:a16="http://schemas.microsoft.com/office/drawing/2014/main" id="{F6E5955C-9D0F-4D45-941B-38C00DCB5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3">
              <a:extLst>
                <a:ext uri="{FF2B5EF4-FFF2-40B4-BE49-F238E27FC236}">
                  <a16:creationId xmlns:a16="http://schemas.microsoft.com/office/drawing/2014/main" id="{28A4AF89-C648-4D4F-9728-5EE6996F8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4">
              <a:extLst>
                <a:ext uri="{FF2B5EF4-FFF2-40B4-BE49-F238E27FC236}">
                  <a16:creationId xmlns:a16="http://schemas.microsoft.com/office/drawing/2014/main" id="{2AE30D5F-611C-4C24-B74D-EE52F199B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">
              <a:extLst>
                <a:ext uri="{FF2B5EF4-FFF2-40B4-BE49-F238E27FC236}">
                  <a16:creationId xmlns:a16="http://schemas.microsoft.com/office/drawing/2014/main" id="{B1313FCA-52AA-4767-BA27-EC3674A3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07FB6C5A-EFC4-4A43-AB27-6244F7CA7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7">
              <a:extLst>
                <a:ext uri="{FF2B5EF4-FFF2-40B4-BE49-F238E27FC236}">
                  <a16:creationId xmlns:a16="http://schemas.microsoft.com/office/drawing/2014/main" id="{3BF24447-F7CC-4598-8910-FAAC77867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8">
              <a:extLst>
                <a:ext uri="{FF2B5EF4-FFF2-40B4-BE49-F238E27FC236}">
                  <a16:creationId xmlns:a16="http://schemas.microsoft.com/office/drawing/2014/main" id="{E8C0FE7B-3A46-4ED7-9C3D-C66FB4E63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9">
              <a:extLst>
                <a:ext uri="{FF2B5EF4-FFF2-40B4-BE49-F238E27FC236}">
                  <a16:creationId xmlns:a16="http://schemas.microsoft.com/office/drawing/2014/main" id="{C93D827F-181D-4B32-A950-DC16B774D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20">
              <a:extLst>
                <a:ext uri="{FF2B5EF4-FFF2-40B4-BE49-F238E27FC236}">
                  <a16:creationId xmlns:a16="http://schemas.microsoft.com/office/drawing/2014/main" id="{2CF17858-D8BB-42DA-ADAF-C5B7DDB11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21">
              <a:extLst>
                <a:ext uri="{FF2B5EF4-FFF2-40B4-BE49-F238E27FC236}">
                  <a16:creationId xmlns:a16="http://schemas.microsoft.com/office/drawing/2014/main" id="{0DBFA4E1-6EAC-4206-819E-36015448E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22">
              <a:extLst>
                <a:ext uri="{FF2B5EF4-FFF2-40B4-BE49-F238E27FC236}">
                  <a16:creationId xmlns:a16="http://schemas.microsoft.com/office/drawing/2014/main" id="{F25D0174-B30E-42BC-BD55-A943BDD62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 23">
              <a:extLst>
                <a:ext uri="{FF2B5EF4-FFF2-40B4-BE49-F238E27FC236}">
                  <a16:creationId xmlns:a16="http://schemas.microsoft.com/office/drawing/2014/main" id="{1E31CAD0-C3BC-4821-87CC-78C2AE794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24">
              <a:extLst>
                <a:ext uri="{FF2B5EF4-FFF2-40B4-BE49-F238E27FC236}">
                  <a16:creationId xmlns:a16="http://schemas.microsoft.com/office/drawing/2014/main" id="{5470702A-797A-4762-B2E7-330ECFCFE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25">
              <a:extLst>
                <a:ext uri="{FF2B5EF4-FFF2-40B4-BE49-F238E27FC236}">
                  <a16:creationId xmlns:a16="http://schemas.microsoft.com/office/drawing/2014/main" id="{75857B84-7166-46C1-B6CC-5A981DEF9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F4166B5-BEB6-4D93-91F2-61F18E18D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9645B81-B570-40D4-A717-18FD21349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Isosceles Triangle 22">
              <a:extLst>
                <a:ext uri="{FF2B5EF4-FFF2-40B4-BE49-F238E27FC236}">
                  <a16:creationId xmlns:a16="http://schemas.microsoft.com/office/drawing/2014/main" id="{D8C83445-9D36-40AB-9B6C-13B432A61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37281DC3-F955-435C-A291-E5CDF00A6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73" name="Rectangle 172">
            <a:extLst>
              <a:ext uri="{FF2B5EF4-FFF2-40B4-BE49-F238E27FC236}">
                <a16:creationId xmlns:a16="http://schemas.microsoft.com/office/drawing/2014/main" id="{D6E56CF3-26B9-4D5A-96C0-31E3E53B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E61D94F-EA5C-4330-8A35-483A7E589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75" name="Freeform 5">
              <a:extLst>
                <a:ext uri="{FF2B5EF4-FFF2-40B4-BE49-F238E27FC236}">
                  <a16:creationId xmlns:a16="http://schemas.microsoft.com/office/drawing/2014/main" id="{8BF6168A-9E65-4524-A92C-534967CC9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Freeform 6">
              <a:extLst>
                <a:ext uri="{FF2B5EF4-FFF2-40B4-BE49-F238E27FC236}">
                  <a16:creationId xmlns:a16="http://schemas.microsoft.com/office/drawing/2014/main" id="{03494CE7-F2DE-46D5-AC7D-30071BCCB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7">
              <a:extLst>
                <a:ext uri="{FF2B5EF4-FFF2-40B4-BE49-F238E27FC236}">
                  <a16:creationId xmlns:a16="http://schemas.microsoft.com/office/drawing/2014/main" id="{91F5A2CE-439D-4922-961F-6A986BDF2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Freeform 8">
              <a:extLst>
                <a:ext uri="{FF2B5EF4-FFF2-40B4-BE49-F238E27FC236}">
                  <a16:creationId xmlns:a16="http://schemas.microsoft.com/office/drawing/2014/main" id="{DC9BAAB3-1FB8-4A81-863E-A05ED7828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Freeform 9">
              <a:extLst>
                <a:ext uri="{FF2B5EF4-FFF2-40B4-BE49-F238E27FC236}">
                  <a16:creationId xmlns:a16="http://schemas.microsoft.com/office/drawing/2014/main" id="{FA50AFC3-F23E-4058-8D71-9BD07AEA2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Freeform 10">
              <a:extLst>
                <a:ext uri="{FF2B5EF4-FFF2-40B4-BE49-F238E27FC236}">
                  <a16:creationId xmlns:a16="http://schemas.microsoft.com/office/drawing/2014/main" id="{182B2B33-19FD-402E-8E35-A8E867FB9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1">
              <a:extLst>
                <a:ext uri="{FF2B5EF4-FFF2-40B4-BE49-F238E27FC236}">
                  <a16:creationId xmlns:a16="http://schemas.microsoft.com/office/drawing/2014/main" id="{0FA38FB1-0238-4631-84CC-766DC76EE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2">
              <a:extLst>
                <a:ext uri="{FF2B5EF4-FFF2-40B4-BE49-F238E27FC236}">
                  <a16:creationId xmlns:a16="http://schemas.microsoft.com/office/drawing/2014/main" id="{4516460F-0122-450D-8257-E27F8E553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Freeform 13">
              <a:extLst>
                <a:ext uri="{FF2B5EF4-FFF2-40B4-BE49-F238E27FC236}">
                  <a16:creationId xmlns:a16="http://schemas.microsoft.com/office/drawing/2014/main" id="{95CF39E3-8AA8-482D-9C7E-B472D289F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Freeform 14">
              <a:extLst>
                <a:ext uri="{FF2B5EF4-FFF2-40B4-BE49-F238E27FC236}">
                  <a16:creationId xmlns:a16="http://schemas.microsoft.com/office/drawing/2014/main" id="{297A3F66-FF49-4C69-91A4-018DFDCA4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Freeform 15">
              <a:extLst>
                <a:ext uri="{FF2B5EF4-FFF2-40B4-BE49-F238E27FC236}">
                  <a16:creationId xmlns:a16="http://schemas.microsoft.com/office/drawing/2014/main" id="{EF2CA154-6FAF-4F24-833A-C327B1030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45E949B0-6D59-4E0C-A2F6-6D9884204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7">
              <a:extLst>
                <a:ext uri="{FF2B5EF4-FFF2-40B4-BE49-F238E27FC236}">
                  <a16:creationId xmlns:a16="http://schemas.microsoft.com/office/drawing/2014/main" id="{AE77593D-3B3D-4BEC-9B83-C7556559C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Freeform 18">
              <a:extLst>
                <a:ext uri="{FF2B5EF4-FFF2-40B4-BE49-F238E27FC236}">
                  <a16:creationId xmlns:a16="http://schemas.microsoft.com/office/drawing/2014/main" id="{FB8550CF-4B41-4509-9CBF-E0EEFEB94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Freeform 19">
              <a:extLst>
                <a:ext uri="{FF2B5EF4-FFF2-40B4-BE49-F238E27FC236}">
                  <a16:creationId xmlns:a16="http://schemas.microsoft.com/office/drawing/2014/main" id="{50DA9124-2618-4DA7-AE4A-B228BD9CF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Freeform 20">
              <a:extLst>
                <a:ext uri="{FF2B5EF4-FFF2-40B4-BE49-F238E27FC236}">
                  <a16:creationId xmlns:a16="http://schemas.microsoft.com/office/drawing/2014/main" id="{6741AAD5-45BA-4FDA-AEDF-3337296BC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Freeform 21">
              <a:extLst>
                <a:ext uri="{FF2B5EF4-FFF2-40B4-BE49-F238E27FC236}">
                  <a16:creationId xmlns:a16="http://schemas.microsoft.com/office/drawing/2014/main" id="{BB56D020-0FBC-4705-9EF0-009EE9E7B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22">
              <a:extLst>
                <a:ext uri="{FF2B5EF4-FFF2-40B4-BE49-F238E27FC236}">
                  <a16:creationId xmlns:a16="http://schemas.microsoft.com/office/drawing/2014/main" id="{5DD03962-6BCE-4284-B97A-851C4BC69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23">
              <a:extLst>
                <a:ext uri="{FF2B5EF4-FFF2-40B4-BE49-F238E27FC236}">
                  <a16:creationId xmlns:a16="http://schemas.microsoft.com/office/drawing/2014/main" id="{BFC97152-3801-4E0D-B746-0F7DFBC6D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24">
              <a:extLst>
                <a:ext uri="{FF2B5EF4-FFF2-40B4-BE49-F238E27FC236}">
                  <a16:creationId xmlns:a16="http://schemas.microsoft.com/office/drawing/2014/main" id="{19FFD9BF-F64C-425B-8E0B-CA0F1B466A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Freeform 25">
              <a:extLst>
                <a:ext uri="{FF2B5EF4-FFF2-40B4-BE49-F238E27FC236}">
                  <a16:creationId xmlns:a16="http://schemas.microsoft.com/office/drawing/2014/main" id="{C6ED711B-36ED-4173-AB44-8C86ADF0F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56F45B4-234D-4F59-AF8D-9A8AFB94D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761" y="785326"/>
            <a:ext cx="4452664" cy="3771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D8E6E23-45CE-445A-904E-62F785DA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2167" y="0"/>
            <a:ext cx="3480600" cy="5143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99993" y="702811"/>
            <a:ext cx="3004206" cy="12875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  <p:sp>
        <p:nvSpPr>
          <p:cNvPr id="147" name="Isosceles Triangle 22">
            <a:extLst>
              <a:ext uri="{FF2B5EF4-FFF2-40B4-BE49-F238E27FC236}">
                <a16:creationId xmlns:a16="http://schemas.microsoft.com/office/drawing/2014/main" id="{E5FE8003-E652-491E-9169-0097F83C8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01598" y="4159880"/>
            <a:ext cx="236991" cy="2043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DC66091-68FA-4006-8A27-640168146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761" y="1225794"/>
            <a:ext cx="4451847" cy="29379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55483" y="1289051"/>
            <a:ext cx="4325675" cy="804283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2500" spc="-150" dirty="0" err="1">
                <a:solidFill>
                  <a:srgbClr val="FFFEFF"/>
                </a:solidFill>
              </a:rPr>
              <a:t>Krotność</a:t>
            </a:r>
            <a:r>
              <a:rPr lang="en-US" sz="2500" spc="-150" dirty="0">
                <a:solidFill>
                  <a:srgbClr val="FFFEFF"/>
                </a:solidFill>
              </a:rPr>
              <a:t>/</a:t>
            </a:r>
            <a:r>
              <a:rPr lang="en-US" sz="2500" spc="-150" dirty="0" err="1">
                <a:solidFill>
                  <a:srgbClr val="FFFEFF"/>
                </a:solidFill>
              </a:rPr>
              <a:t>liczność</a:t>
            </a:r>
            <a:r>
              <a:rPr lang="en-US" sz="2500" spc="-150" dirty="0">
                <a:solidFill>
                  <a:srgbClr val="FFFEFF"/>
                </a:solidFill>
              </a:rPr>
              <a:t> </a:t>
            </a:r>
            <a:r>
              <a:rPr lang="en-US" sz="2500" spc="-150" dirty="0" err="1">
                <a:solidFill>
                  <a:srgbClr val="FFFEFF"/>
                </a:solidFill>
              </a:rPr>
              <a:t>asocjacji</a:t>
            </a:r>
            <a:endParaRPr lang="en-US" sz="2500" spc="-150" dirty="0">
              <a:solidFill>
                <a:srgbClr val="FFFEFF"/>
              </a:solidFill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654826" y="2091929"/>
            <a:ext cx="4326332" cy="201270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E"/>
                </a:solidFill>
                <a:latin typeface="+mj-lt"/>
              </a:rPr>
              <a:t>0..1   -   0 </a:t>
            </a:r>
            <a:r>
              <a:rPr lang="en-US" sz="1200" dirty="0" err="1">
                <a:solidFill>
                  <a:srgbClr val="FFFFFE"/>
                </a:solidFill>
                <a:latin typeface="+mj-lt"/>
              </a:rPr>
              <a:t>lub</a:t>
            </a:r>
            <a:r>
              <a:rPr lang="en-US" sz="1200" dirty="0">
                <a:solidFill>
                  <a:srgbClr val="FFFFFE"/>
                </a:solidFill>
                <a:latin typeface="+mj-lt"/>
              </a:rPr>
              <a:t> 1</a:t>
            </a:r>
          </a:p>
          <a:p>
            <a:pPr marL="0" lvl="0" indent="-228600" defTabSz="914400">
              <a:spcBef>
                <a:spcPts val="120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E"/>
                </a:solidFill>
                <a:latin typeface="+mj-lt"/>
              </a:rPr>
              <a:t>0..*   -   zero </a:t>
            </a:r>
            <a:r>
              <a:rPr lang="en-US" sz="1200" dirty="0" err="1">
                <a:solidFill>
                  <a:srgbClr val="FFFFFE"/>
                </a:solidFill>
                <a:latin typeface="+mj-lt"/>
              </a:rPr>
              <a:t>lub</a:t>
            </a:r>
            <a:r>
              <a:rPr lang="en-US" sz="1200" dirty="0">
                <a:solidFill>
                  <a:srgbClr val="FFFFFE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FFFFFE"/>
                </a:solidFill>
                <a:latin typeface="+mj-lt"/>
              </a:rPr>
              <a:t>wiele</a:t>
            </a:r>
            <a:endParaRPr lang="en-US" sz="1200" dirty="0">
              <a:solidFill>
                <a:srgbClr val="FFFFFE"/>
              </a:solidFill>
              <a:latin typeface="+mj-lt"/>
            </a:endParaRPr>
          </a:p>
          <a:p>
            <a:pPr marL="0" lvl="0" indent="-228600" defTabSz="914400">
              <a:spcBef>
                <a:spcPts val="1200"/>
              </a:spcBef>
              <a:spcAft>
                <a:spcPts val="12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FFFFFE"/>
                </a:solidFill>
                <a:latin typeface="+mj-lt"/>
              </a:rPr>
              <a:t>1..*   -   </a:t>
            </a:r>
            <a:r>
              <a:rPr lang="en-US" sz="1200" dirty="0" err="1">
                <a:solidFill>
                  <a:srgbClr val="FFFFFE"/>
                </a:solidFill>
                <a:latin typeface="+mj-lt"/>
              </a:rPr>
              <a:t>conajmniej</a:t>
            </a:r>
            <a:r>
              <a:rPr lang="en-US" sz="1200" dirty="0">
                <a:solidFill>
                  <a:srgbClr val="FFFFFE"/>
                </a:solidFill>
                <a:latin typeface="+mj-lt"/>
              </a:rPr>
              <a:t> 1</a:t>
            </a: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899992" y="3092538"/>
            <a:ext cx="3003978" cy="141186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Nawigowalność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4797900" y="1152475"/>
            <a:ext cx="4034400" cy="37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dirty="0">
                <a:latin typeface="+mj-lt"/>
              </a:rPr>
              <a:t>X - koniec nie jest nawigacyjny</a:t>
            </a:r>
            <a:endParaRPr dirty="0">
              <a:latin typeface="+mj-l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dirty="0">
                <a:latin typeface="+mj-lt"/>
              </a:rPr>
              <a:t>&gt; - koniec jest nawigacyjny</a:t>
            </a:r>
            <a:endParaRPr dirty="0">
              <a:latin typeface="+mj-l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dirty="0">
                <a:latin typeface="+mj-lt"/>
              </a:rPr>
              <a:t>Nawigowalność końca Asocjacji określa, czy do danej Klasy można uzyskać dostęp poprzez Klasę na drugim końcu Asocjacji. Inaczej, jeśli koniec przy Klasie A jest nawigowalny, to znaczy, że Klasa B na drugim końcu “zna” obiekt Klasy A.</a:t>
            </a:r>
            <a:endParaRPr dirty="0">
              <a:latin typeface="+mj-lt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022909" cy="83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71425"/>
            <a:ext cx="3022900" cy="103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709850"/>
            <a:ext cx="3475975" cy="9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632475"/>
            <a:ext cx="3022900" cy="909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8DD8E1A-9945-4DBA-BC40-7A028BF3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FE1C52F1-9DDF-4839-9B8F-25F7F8D42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6">
              <a:extLst>
                <a:ext uri="{FF2B5EF4-FFF2-40B4-BE49-F238E27FC236}">
                  <a16:creationId xmlns:a16="http://schemas.microsoft.com/office/drawing/2014/main" id="{DB25E450-AEBE-4B5B-9CD7-7DDA5128D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7">
              <a:extLst>
                <a:ext uri="{FF2B5EF4-FFF2-40B4-BE49-F238E27FC236}">
                  <a16:creationId xmlns:a16="http://schemas.microsoft.com/office/drawing/2014/main" id="{D57AF4B2-B19E-4839-9D9C-06AD5370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8">
              <a:extLst>
                <a:ext uri="{FF2B5EF4-FFF2-40B4-BE49-F238E27FC236}">
                  <a16:creationId xmlns:a16="http://schemas.microsoft.com/office/drawing/2014/main" id="{2949CEBF-F4A7-44B2-8A3B-22558718F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9">
              <a:extLst>
                <a:ext uri="{FF2B5EF4-FFF2-40B4-BE49-F238E27FC236}">
                  <a16:creationId xmlns:a16="http://schemas.microsoft.com/office/drawing/2014/main" id="{28EAA589-93ED-485D-96BB-B9B21EC96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0">
              <a:extLst>
                <a:ext uri="{FF2B5EF4-FFF2-40B4-BE49-F238E27FC236}">
                  <a16:creationId xmlns:a16="http://schemas.microsoft.com/office/drawing/2014/main" id="{4BB4F238-A1F2-45F6-9074-18C4A9F9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1">
              <a:extLst>
                <a:ext uri="{FF2B5EF4-FFF2-40B4-BE49-F238E27FC236}">
                  <a16:creationId xmlns:a16="http://schemas.microsoft.com/office/drawing/2014/main" id="{1C658EE5-B46E-48ED-822D-1C3F08ECA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2">
              <a:extLst>
                <a:ext uri="{FF2B5EF4-FFF2-40B4-BE49-F238E27FC236}">
                  <a16:creationId xmlns:a16="http://schemas.microsoft.com/office/drawing/2014/main" id="{82AA74BE-73A4-4ADC-B86C-833704C0C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3">
              <a:extLst>
                <a:ext uri="{FF2B5EF4-FFF2-40B4-BE49-F238E27FC236}">
                  <a16:creationId xmlns:a16="http://schemas.microsoft.com/office/drawing/2014/main" id="{2018BD4B-A593-4075-9FDB-4739C6D53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4">
              <a:extLst>
                <a:ext uri="{FF2B5EF4-FFF2-40B4-BE49-F238E27FC236}">
                  <a16:creationId xmlns:a16="http://schemas.microsoft.com/office/drawing/2014/main" id="{0D16E44B-CE60-491F-B907-D02B0B1E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5">
              <a:extLst>
                <a:ext uri="{FF2B5EF4-FFF2-40B4-BE49-F238E27FC236}">
                  <a16:creationId xmlns:a16="http://schemas.microsoft.com/office/drawing/2014/main" id="{2DFA7256-7E90-44B6-8E90-2111C1A1F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CE31CD09-2348-4B3A-9C97-CEECA4ABC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7">
              <a:extLst>
                <a:ext uri="{FF2B5EF4-FFF2-40B4-BE49-F238E27FC236}">
                  <a16:creationId xmlns:a16="http://schemas.microsoft.com/office/drawing/2014/main" id="{4E5422EF-93F2-41A9-B30F-9EFE9241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8">
              <a:extLst>
                <a:ext uri="{FF2B5EF4-FFF2-40B4-BE49-F238E27FC236}">
                  <a16:creationId xmlns:a16="http://schemas.microsoft.com/office/drawing/2014/main" id="{7920E29F-BB48-485F-95FF-5C372339C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9">
              <a:extLst>
                <a:ext uri="{FF2B5EF4-FFF2-40B4-BE49-F238E27FC236}">
                  <a16:creationId xmlns:a16="http://schemas.microsoft.com/office/drawing/2014/main" id="{ACFDB0E0-ECEB-4EEB-925D-4BE22979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0">
              <a:extLst>
                <a:ext uri="{FF2B5EF4-FFF2-40B4-BE49-F238E27FC236}">
                  <a16:creationId xmlns:a16="http://schemas.microsoft.com/office/drawing/2014/main" id="{30CE2542-FFC2-4E6A-9F84-265FE415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1">
              <a:extLst>
                <a:ext uri="{FF2B5EF4-FFF2-40B4-BE49-F238E27FC236}">
                  <a16:creationId xmlns:a16="http://schemas.microsoft.com/office/drawing/2014/main" id="{2864C497-B900-4D3E-895C-A2A823A3C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2">
              <a:extLst>
                <a:ext uri="{FF2B5EF4-FFF2-40B4-BE49-F238E27FC236}">
                  <a16:creationId xmlns:a16="http://schemas.microsoft.com/office/drawing/2014/main" id="{26441ED2-272A-4395-9966-F5B1C8D3F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3">
              <a:extLst>
                <a:ext uri="{FF2B5EF4-FFF2-40B4-BE49-F238E27FC236}">
                  <a16:creationId xmlns:a16="http://schemas.microsoft.com/office/drawing/2014/main" id="{701CA35D-3DE0-4BE9-96A9-31A6F24DB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4">
              <a:extLst>
                <a:ext uri="{FF2B5EF4-FFF2-40B4-BE49-F238E27FC236}">
                  <a16:creationId xmlns:a16="http://schemas.microsoft.com/office/drawing/2014/main" id="{C9367E8C-A75F-4D57-8B79-1B3EEDFD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5">
              <a:extLst>
                <a:ext uri="{FF2B5EF4-FFF2-40B4-BE49-F238E27FC236}">
                  <a16:creationId xmlns:a16="http://schemas.microsoft.com/office/drawing/2014/main" id="{0846F98D-8409-4D6C-B830-625CC19E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35369DB-627C-41BD-9041-6426E8BF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BA15987-DDC0-4CAB-AF5B-7D11E25D2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Isosceles Triangle 22">
              <a:extLst>
                <a:ext uri="{FF2B5EF4-FFF2-40B4-BE49-F238E27FC236}">
                  <a16:creationId xmlns:a16="http://schemas.microsoft.com/office/drawing/2014/main" id="{9B6DF8F2-BD4C-48F5-8CDC-95B311500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E989FB2-D6DE-43D1-84D5-1C80F990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38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5452264" y="596645"/>
            <a:ext cx="3092804" cy="1074992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algn="l" defTabSz="914400">
              <a:spcBef>
                <a:spcPct val="0"/>
              </a:spcBef>
              <a:spcAft>
                <a:spcPts val="0"/>
              </a:spcAft>
            </a:pPr>
            <a:r>
              <a:rPr lang="en-US" sz="2400" spc="-150" dirty="0" err="1">
                <a:solidFill>
                  <a:schemeClr val="tx2"/>
                </a:solidFill>
              </a:rPr>
              <a:t>Klasa</a:t>
            </a:r>
            <a:r>
              <a:rPr lang="en-US" sz="2400" spc="-150" dirty="0">
                <a:solidFill>
                  <a:schemeClr val="tx2"/>
                </a:solidFill>
              </a:rPr>
              <a:t> </a:t>
            </a:r>
            <a:r>
              <a:rPr lang="en-US" sz="2400" spc="-150" dirty="0" err="1">
                <a:solidFill>
                  <a:schemeClr val="tx2"/>
                </a:solidFill>
              </a:rPr>
              <a:t>asocjacji</a:t>
            </a:r>
            <a:endParaRPr lang="en-US" sz="2400" spc="-150" dirty="0">
              <a:solidFill>
                <a:schemeClr val="tx2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790" y="596645"/>
            <a:ext cx="4477978" cy="3936635"/>
          </a:xfrm>
          <a:prstGeom prst="rect">
            <a:avLst/>
          </a:prstGeom>
          <a:solidFill>
            <a:schemeClr val="bg1"/>
          </a:solidFill>
          <a:ln w="19050">
            <a:solidFill>
              <a:srgbClr val="B38F6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9086" y="1718685"/>
            <a:ext cx="4231386" cy="169255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5470362" y="1753791"/>
            <a:ext cx="3074706" cy="275867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-228600" defTabSz="914400">
              <a:spcBef>
                <a:spcPts val="0"/>
              </a:spcBef>
              <a:spcAft>
                <a:spcPts val="1200"/>
              </a:spcAft>
              <a:buClr>
                <a:srgbClr val="B38F6A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Klasa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asocjacji</a:t>
            </a:r>
            <a:r>
              <a:rPr lang="en-US" dirty="0">
                <a:latin typeface="+mj-lt"/>
              </a:rPr>
              <a:t> to </a:t>
            </a:r>
            <a:r>
              <a:rPr lang="en-US" dirty="0" err="1">
                <a:latin typeface="+mj-lt"/>
              </a:rPr>
              <a:t>asocjacja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rozszerzona</a:t>
            </a:r>
            <a:r>
              <a:rPr lang="en-US" dirty="0">
                <a:latin typeface="+mj-lt"/>
              </a:rPr>
              <a:t> o </a:t>
            </a:r>
            <a:r>
              <a:rPr lang="en-US" dirty="0" err="1">
                <a:latin typeface="+mj-lt"/>
              </a:rPr>
              <a:t>zestaw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własnych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cech</a:t>
            </a:r>
            <a:r>
              <a:rPr lang="en-US" dirty="0">
                <a:latin typeface="+mj-lt"/>
              </a:rPr>
              <a:t>. Jest </a:t>
            </a:r>
            <a:r>
              <a:rPr lang="en-US" dirty="0" err="1">
                <a:latin typeface="+mj-lt"/>
              </a:rPr>
              <a:t>ona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jednocześnie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Asocjacją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Klasą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wobec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czego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posiada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właściwości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obu</a:t>
            </a:r>
            <a:r>
              <a:rPr lang="en-US" dirty="0">
                <a:latin typeface="+mj-lt"/>
              </a:rPr>
              <a:t> z </a:t>
            </a:r>
            <a:r>
              <a:rPr lang="en-US" dirty="0" err="1">
                <a:latin typeface="+mj-lt"/>
              </a:rPr>
              <a:t>nich</a:t>
            </a:r>
            <a:r>
              <a:rPr lang="en-US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Bibliografia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264600" y="11446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u="sng">
                <a:solidFill>
                  <a:schemeClr val="hlink"/>
                </a:solidFill>
                <a:hlinkClick r:id="rId3"/>
              </a:rPr>
              <a:t>https://www.omg.org/spec/UML/2.5.1/PDF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178</Words>
  <Application>Microsoft Macintosh PowerPoint</Application>
  <PresentationFormat>On-screen Show (16:9)</PresentationFormat>
  <Paragraphs>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Rockwell</vt:lpstr>
      <vt:lpstr>Arial</vt:lpstr>
      <vt:lpstr>Wingdings</vt:lpstr>
      <vt:lpstr>Calibri Light</vt:lpstr>
      <vt:lpstr>Atlas</vt:lpstr>
      <vt:lpstr>Asocjacja: podstawowe właściwości</vt:lpstr>
      <vt:lpstr>Czym jest asocjacja?</vt:lpstr>
      <vt:lpstr>Asocjacja w UML</vt:lpstr>
      <vt:lpstr>Krotność/liczność asocjacji</vt:lpstr>
      <vt:lpstr>Nawigowalność</vt:lpstr>
      <vt:lpstr>Klasa asocjacji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Kamil Marczak (284229)</cp:lastModifiedBy>
  <cp:revision>11</cp:revision>
  <dcterms:modified xsi:type="dcterms:W3CDTF">2026-03-10T08:36:42Z</dcterms:modified>
</cp:coreProperties>
</file>